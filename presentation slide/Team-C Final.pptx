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7" r:id="rId3"/>
    <p:sldId id="257" r:id="rId4"/>
    <p:sldId id="258" r:id="rId5"/>
    <p:sldId id="259" r:id="rId6"/>
    <p:sldId id="264" r:id="rId7"/>
    <p:sldId id="260" r:id="rId8"/>
    <p:sldId id="263" r:id="rId9"/>
    <p:sldId id="269" r:id="rId10"/>
    <p:sldId id="279" r:id="rId11"/>
    <p:sldId id="271" r:id="rId12"/>
    <p:sldId id="273" r:id="rId13"/>
    <p:sldId id="274" r:id="rId14"/>
    <p:sldId id="276" r:id="rId15"/>
    <p:sldId id="283" r:id="rId16"/>
    <p:sldId id="275" r:id="rId17"/>
    <p:sldId id="277" r:id="rId18"/>
    <p:sldId id="270" r:id="rId19"/>
    <p:sldId id="272" r:id="rId20"/>
    <p:sldId id="265" r:id="rId21"/>
    <p:sldId id="282" r:id="rId22"/>
    <p:sldId id="280" r:id="rId23"/>
    <p:sldId id="268" r:id="rId24"/>
  </p:sldIdLst>
  <p:sldSz cx="18288000" cy="10287000"/>
  <p:notesSz cx="6858000" cy="9144000"/>
  <p:embeddedFontLst>
    <p:embeddedFont>
      <p:font typeface="Book Antiqua" panose="02040602050305030304" pitchFamily="18" charset="0"/>
      <p:regular r:id="rId25"/>
      <p:bold r:id="rId26"/>
      <p:italic r:id="rId27"/>
      <p:boldItalic r:id="rId28"/>
    </p:embeddedFont>
    <p:embeddedFont>
      <p:font typeface="Open Sauce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1A74AF-EEAA-49FA-9394-BF6A3E2325D8}" v="11" dt="2026-01-25T14:04:01.536"/>
  </p1510:revLst>
</p1510:revInfo>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15" autoAdjust="0"/>
    <p:restoredTop sz="94773" autoAdjust="0"/>
  </p:normalViewPr>
  <p:slideViewPr>
    <p:cSldViewPr snapToGrid="0">
      <p:cViewPr varScale="1">
        <p:scale>
          <a:sx n="52" d="100"/>
          <a:sy n="52" d="100"/>
        </p:scale>
        <p:origin x="614" y="11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sv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 Id="rId4" Type="http://schemas.openxmlformats.org/officeDocument/2006/relationships/image" Target="../media/image2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sv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pic>
        <p:nvPicPr>
          <p:cNvPr id="19" name="Picture 18" descr="A person holding a triangle above a large number and a pencil&#10;&#10;AI-generated content may be incorrect.">
            <a:extLst>
              <a:ext uri="{FF2B5EF4-FFF2-40B4-BE49-F238E27FC236}">
                <a16:creationId xmlns:a16="http://schemas.microsoft.com/office/drawing/2014/main" id="{590253E5-5660-4EF8-33FE-875D79E788E7}"/>
              </a:ext>
            </a:extLst>
          </p:cNvPr>
          <p:cNvPicPr>
            <a:picLocks noChangeAspect="1"/>
          </p:cNvPicPr>
          <p:nvPr/>
        </p:nvPicPr>
        <p:blipFill>
          <a:blip r:embed="rId2"/>
          <a:stretch>
            <a:fillRect/>
          </a:stretch>
        </p:blipFill>
        <p:spPr>
          <a:xfrm>
            <a:off x="-8164" y="2971800"/>
            <a:ext cx="13046529" cy="7282543"/>
          </a:xfrm>
          <a:prstGeom prst="rect">
            <a:avLst/>
          </a:prstGeom>
        </p:spPr>
      </p:pic>
      <p:sp>
        <p:nvSpPr>
          <p:cNvPr id="2" name="Freeform 2"/>
          <p:cNvSpPr/>
          <p:nvPr/>
        </p:nvSpPr>
        <p:spPr>
          <a:xfrm>
            <a:off x="15047759" y="3749017"/>
            <a:ext cx="3240241" cy="6504134"/>
          </a:xfrm>
          <a:custGeom>
            <a:avLst/>
            <a:gdLst/>
            <a:ahLst/>
            <a:cxnLst/>
            <a:rect l="l" t="t" r="r" b="b"/>
            <a:pathLst>
              <a:path w="3240241" h="6504134">
                <a:moveTo>
                  <a:pt x="0" y="0"/>
                </a:moveTo>
                <a:lnTo>
                  <a:pt x="3240241" y="0"/>
                </a:lnTo>
                <a:lnTo>
                  <a:pt x="3240241" y="6504133"/>
                </a:lnTo>
                <a:lnTo>
                  <a:pt x="0" y="65041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3032403" y="-1448305"/>
            <a:ext cx="5255597" cy="13183610"/>
            <a:chOff x="0" y="0"/>
            <a:chExt cx="1384190" cy="3472227"/>
          </a:xfrm>
        </p:grpSpPr>
        <p:sp>
          <p:nvSpPr>
            <p:cNvPr id="4" name="Freeform 4"/>
            <p:cNvSpPr/>
            <p:nvPr/>
          </p:nvSpPr>
          <p:spPr>
            <a:xfrm>
              <a:off x="0" y="0"/>
              <a:ext cx="1384190" cy="3472226"/>
            </a:xfrm>
            <a:custGeom>
              <a:avLst/>
              <a:gdLst/>
              <a:ahLst/>
              <a:cxnLst/>
              <a:rect l="l" t="t" r="r" b="b"/>
              <a:pathLst>
                <a:path w="1384190" h="3472226">
                  <a:moveTo>
                    <a:pt x="0" y="0"/>
                  </a:moveTo>
                  <a:lnTo>
                    <a:pt x="1384190" y="0"/>
                  </a:lnTo>
                  <a:lnTo>
                    <a:pt x="1384190" y="3472226"/>
                  </a:lnTo>
                  <a:lnTo>
                    <a:pt x="0" y="3472226"/>
                  </a:lnTo>
                  <a:close/>
                </a:path>
              </a:pathLst>
            </a:custGeom>
            <a:solidFill>
              <a:srgbClr val="106861"/>
            </a:solidFill>
          </p:spPr>
          <p:txBody>
            <a:bodyPr/>
            <a:lstStyle/>
            <a:p>
              <a:endParaRPr lang="en-US"/>
            </a:p>
          </p:txBody>
        </p:sp>
        <p:sp>
          <p:nvSpPr>
            <p:cNvPr id="5" name="TextBox 5"/>
            <p:cNvSpPr txBox="1"/>
            <p:nvPr/>
          </p:nvSpPr>
          <p:spPr>
            <a:xfrm>
              <a:off x="0" y="-19050"/>
              <a:ext cx="1384190" cy="3491277"/>
            </a:xfrm>
            <a:prstGeom prst="rect">
              <a:avLst/>
            </a:prstGeom>
          </p:spPr>
          <p:txBody>
            <a:bodyPr lIns="50800" tIns="50800" rIns="50800" bIns="50800" rtlCol="0" anchor="ctr"/>
            <a:lstStyle/>
            <a:p>
              <a:pPr algn="ctr">
                <a:lnSpc>
                  <a:spcPts val="2859"/>
                </a:lnSpc>
              </a:pPr>
              <a:endParaRPr/>
            </a:p>
          </p:txBody>
        </p:sp>
      </p:grpSp>
      <p:sp>
        <p:nvSpPr>
          <p:cNvPr id="6" name="Freeform 6"/>
          <p:cNvSpPr/>
          <p:nvPr/>
        </p:nvSpPr>
        <p:spPr>
          <a:xfrm>
            <a:off x="9432880" y="1526000"/>
            <a:ext cx="7234999" cy="7234999"/>
          </a:xfrm>
          <a:custGeom>
            <a:avLst/>
            <a:gdLst/>
            <a:ahLst/>
            <a:cxnLst/>
            <a:rect l="l" t="t" r="r" b="b"/>
            <a:pathLst>
              <a:path w="7234999" h="7234999">
                <a:moveTo>
                  <a:pt x="0" y="0"/>
                </a:moveTo>
                <a:lnTo>
                  <a:pt x="7234999" y="0"/>
                </a:lnTo>
                <a:lnTo>
                  <a:pt x="7234999" y="7235000"/>
                </a:lnTo>
                <a:lnTo>
                  <a:pt x="0" y="7235000"/>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sp>
        <p:nvSpPr>
          <p:cNvPr id="13" name="TextBox 13"/>
          <p:cNvSpPr txBox="1"/>
          <p:nvPr/>
        </p:nvSpPr>
        <p:spPr>
          <a:xfrm>
            <a:off x="3322720" y="1300281"/>
            <a:ext cx="7214594" cy="1346522"/>
          </a:xfrm>
          <a:prstGeom prst="rect">
            <a:avLst/>
          </a:prstGeom>
        </p:spPr>
        <p:txBody>
          <a:bodyPr lIns="0" tIns="0" rIns="0" bIns="0" rtlCol="0" anchor="t">
            <a:spAutoFit/>
          </a:bodyPr>
          <a:lstStyle/>
          <a:p>
            <a:pPr algn="l">
              <a:lnSpc>
                <a:spcPts val="10510"/>
              </a:lnSpc>
            </a:pPr>
            <a:r>
              <a:rPr lang="en-US" sz="9600" spc="-150" dirty="0">
                <a:latin typeface="Book Antiqua"/>
                <a:ea typeface="Calibri"/>
                <a:cs typeface="Calibri"/>
              </a:rPr>
              <a:t>CALCURE</a:t>
            </a:r>
            <a:endParaRPr lang="en-US" dirty="0">
              <a:latin typeface="Calibri"/>
              <a:ea typeface="Calibri"/>
              <a:cs typeface="Calibri"/>
            </a:endParaRPr>
          </a:p>
        </p:txBody>
      </p:sp>
      <p:pic>
        <p:nvPicPr>
          <p:cNvPr id="18" name="Graphic 17" descr="Mathematics with solid fill">
            <a:extLst>
              <a:ext uri="{FF2B5EF4-FFF2-40B4-BE49-F238E27FC236}">
                <a16:creationId xmlns:a16="http://schemas.microsoft.com/office/drawing/2014/main" id="{B90FFA7E-96EB-2DE6-94AC-8390E05AE1A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609615" y="3706586"/>
            <a:ext cx="2890157" cy="28901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white background with blue hexagons&#10;&#10;AI-generated content may be incorrect.">
            <a:extLst>
              <a:ext uri="{FF2B5EF4-FFF2-40B4-BE49-F238E27FC236}">
                <a16:creationId xmlns:a16="http://schemas.microsoft.com/office/drawing/2014/main" id="{6FA8362B-8AF9-AACE-97A6-0B73718F037B}"/>
              </a:ext>
            </a:extLst>
          </p:cNvPr>
          <p:cNvPicPr>
            <a:picLocks noChangeAspect="1"/>
          </p:cNvPicPr>
          <p:nvPr/>
        </p:nvPicPr>
        <p:blipFill>
          <a:blip r:embed="rId2"/>
          <a:stretch>
            <a:fillRect/>
          </a:stretch>
        </p:blipFill>
        <p:spPr>
          <a:xfrm>
            <a:off x="-2814" y="158262"/>
            <a:ext cx="18311215" cy="10128738"/>
          </a:xfrm>
          <a:prstGeom prst="rect">
            <a:avLst/>
          </a:prstGeom>
        </p:spPr>
      </p:pic>
      <p:grpSp>
        <p:nvGrpSpPr>
          <p:cNvPr id="2" name="Group 2"/>
          <p:cNvGrpSpPr/>
          <p:nvPr/>
        </p:nvGrpSpPr>
        <p:grpSpPr>
          <a:xfrm>
            <a:off x="1950931" y="3413806"/>
            <a:ext cx="4261718" cy="1900808"/>
            <a:chOff x="0" y="-109325"/>
            <a:chExt cx="1042870" cy="386324"/>
          </a:xfrm>
        </p:grpSpPr>
        <p:sp>
          <p:nvSpPr>
            <p:cNvPr id="3" name="Freeform 3"/>
            <p:cNvSpPr/>
            <p:nvPr/>
          </p:nvSpPr>
          <p:spPr>
            <a:xfrm>
              <a:off x="21662" y="-109325"/>
              <a:ext cx="1021208" cy="384123"/>
            </a:xfrm>
            <a:custGeom>
              <a:avLst/>
              <a:gdLst/>
              <a:ahLst/>
              <a:cxnLst/>
              <a:rect l="l" t="t" r="r" b="b"/>
              <a:pathLst>
                <a:path w="812800" h="276999">
                  <a:moveTo>
                    <a:pt x="0" y="0"/>
                  </a:moveTo>
                  <a:lnTo>
                    <a:pt x="812800" y="0"/>
                  </a:lnTo>
                  <a:lnTo>
                    <a:pt x="812800" y="276999"/>
                  </a:lnTo>
                  <a:lnTo>
                    <a:pt x="0" y="276999"/>
                  </a:lnTo>
                  <a:close/>
                </a:path>
              </a:pathLst>
            </a:custGeom>
            <a:solidFill>
              <a:srgbClr val="106861"/>
            </a:solidFill>
          </p:spPr>
          <p:txBody>
            <a:bodyPr/>
            <a:lstStyle/>
            <a:p>
              <a:endParaRPr lang="en-US"/>
            </a:p>
          </p:txBody>
        </p:sp>
        <p:sp>
          <p:nvSpPr>
            <p:cNvPr id="4" name="TextBox 4"/>
            <p:cNvSpPr txBox="1"/>
            <p:nvPr/>
          </p:nvSpPr>
          <p:spPr>
            <a:xfrm>
              <a:off x="0" y="-38100"/>
              <a:ext cx="812800" cy="315099"/>
            </a:xfrm>
            <a:prstGeom prst="rect">
              <a:avLst/>
            </a:prstGeom>
          </p:spPr>
          <p:txBody>
            <a:bodyPr lIns="50800" tIns="50800" rIns="50800" bIns="50800" rtlCol="0" anchor="ctr"/>
            <a:lstStyle/>
            <a:p>
              <a:pPr algn="ctr">
                <a:lnSpc>
                  <a:spcPts val="3035"/>
                </a:lnSpc>
              </a:pPr>
              <a:endParaRPr>
                <a:latin typeface="Times New Roman"/>
                <a:cs typeface="Times New Roman"/>
              </a:endParaRPr>
            </a:p>
          </p:txBody>
        </p:sp>
      </p:grpSp>
      <p:sp>
        <p:nvSpPr>
          <p:cNvPr id="5" name="TextBox 5"/>
          <p:cNvSpPr txBox="1"/>
          <p:nvPr/>
        </p:nvSpPr>
        <p:spPr>
          <a:xfrm>
            <a:off x="2209995" y="3827157"/>
            <a:ext cx="3727226" cy="1057469"/>
          </a:xfrm>
          <a:prstGeom prst="rect">
            <a:avLst/>
          </a:prstGeom>
        </p:spPr>
        <p:txBody>
          <a:bodyPr wrap="square" lIns="0" tIns="0" rIns="0" bIns="0" rtlCol="0" anchor="t">
            <a:spAutoFit/>
          </a:bodyPr>
          <a:lstStyle/>
          <a:p>
            <a:pPr>
              <a:lnSpc>
                <a:spcPts val="4306"/>
              </a:lnSpc>
            </a:pPr>
            <a:r>
              <a:rPr lang="en-US" sz="2800" spc="9" dirty="0">
                <a:solidFill>
                  <a:srgbClr val="FFFFFF"/>
                </a:solidFill>
                <a:latin typeface="Times New Roman"/>
                <a:cs typeface="Times New Roman"/>
              </a:rPr>
              <a:t>Mishu Akter</a:t>
            </a:r>
            <a:endParaRPr lang="en-US" sz="2800" spc="9" dirty="0">
              <a:solidFill>
                <a:srgbClr val="000000"/>
              </a:solidFill>
              <a:latin typeface="Times New Roman"/>
              <a:cs typeface="Times New Roman"/>
            </a:endParaRPr>
          </a:p>
          <a:p>
            <a:pPr>
              <a:lnSpc>
                <a:spcPts val="4306"/>
              </a:lnSpc>
            </a:pPr>
            <a:r>
              <a:rPr lang="en-US" sz="2800" spc="9" dirty="0">
                <a:solidFill>
                  <a:srgbClr val="FFFFFF"/>
                </a:solidFill>
                <a:latin typeface="Times New Roman"/>
                <a:cs typeface="Times New Roman"/>
              </a:rPr>
              <a:t>Roll : NFH2325007F</a:t>
            </a:r>
            <a:endParaRPr lang="en-US" dirty="0">
              <a:latin typeface="Times New Roman"/>
              <a:cs typeface="Times New Roman"/>
            </a:endParaRPr>
          </a:p>
        </p:txBody>
      </p:sp>
      <p:sp>
        <p:nvSpPr>
          <p:cNvPr id="7" name="TextBox 7"/>
          <p:cNvSpPr txBox="1"/>
          <p:nvPr/>
        </p:nvSpPr>
        <p:spPr>
          <a:xfrm>
            <a:off x="1885579" y="1530513"/>
            <a:ext cx="6285737" cy="846386"/>
          </a:xfrm>
          <a:prstGeom prst="rect">
            <a:avLst/>
          </a:prstGeom>
        </p:spPr>
        <p:txBody>
          <a:bodyPr lIns="0" tIns="0" rIns="0" bIns="0" rtlCol="0" anchor="t">
            <a:spAutoFit/>
          </a:bodyPr>
          <a:lstStyle/>
          <a:p>
            <a:pPr marL="0" lvl="0" indent="0" algn="l">
              <a:lnSpc>
                <a:spcPts val="6569"/>
              </a:lnSpc>
              <a:spcBef>
                <a:spcPct val="0"/>
              </a:spcBef>
            </a:pPr>
            <a:r>
              <a:rPr lang="en-US" sz="4692" b="1" spc="-93" dirty="0">
                <a:solidFill>
                  <a:srgbClr val="191919"/>
                </a:solidFill>
                <a:latin typeface="Times New Roman"/>
                <a:ea typeface="Open Sauce Bold"/>
                <a:cs typeface="Times New Roman"/>
                <a:sym typeface="Open Sauce Bold"/>
              </a:rPr>
              <a:t>Our Team - </a:t>
            </a:r>
            <a:r>
              <a:rPr lang="en-US" sz="6000" b="1" spc="-93" dirty="0">
                <a:solidFill>
                  <a:srgbClr val="191919"/>
                </a:solidFill>
                <a:latin typeface="Times New Roman"/>
                <a:ea typeface="Open Sauce Bold"/>
                <a:cs typeface="Times New Roman"/>
                <a:sym typeface="Open Sauce Bold"/>
              </a:rPr>
              <a:t>C</a:t>
            </a:r>
            <a:endParaRPr lang="en-US" sz="4692" b="1" spc="-93" dirty="0">
              <a:solidFill>
                <a:srgbClr val="191919"/>
              </a:solidFill>
              <a:latin typeface="Times New Roman"/>
              <a:ea typeface="Open Sauce Bold"/>
              <a:cs typeface="Times New Roman"/>
              <a:sym typeface="Open Sauce Bold"/>
            </a:endParaRPr>
          </a:p>
        </p:txBody>
      </p:sp>
      <p:sp>
        <p:nvSpPr>
          <p:cNvPr id="28" name="Freeform 28"/>
          <p:cNvSpPr/>
          <p:nvPr/>
        </p:nvSpPr>
        <p:spPr>
          <a:xfrm flipH="1">
            <a:off x="14910781" y="0"/>
            <a:ext cx="3377219" cy="3377219"/>
          </a:xfrm>
          <a:custGeom>
            <a:avLst/>
            <a:gdLst/>
            <a:ahLst/>
            <a:cxnLst/>
            <a:rect l="l" t="t" r="r" b="b"/>
            <a:pathLst>
              <a:path w="3377219" h="3377219">
                <a:moveTo>
                  <a:pt x="3377219" y="0"/>
                </a:moveTo>
                <a:lnTo>
                  <a:pt x="0" y="0"/>
                </a:lnTo>
                <a:lnTo>
                  <a:pt x="0" y="3377219"/>
                </a:lnTo>
                <a:lnTo>
                  <a:pt x="3377219" y="3377219"/>
                </a:lnTo>
                <a:lnTo>
                  <a:pt x="3377219"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29" name="Group 29"/>
          <p:cNvGrpSpPr/>
          <p:nvPr/>
        </p:nvGrpSpPr>
        <p:grpSpPr>
          <a:xfrm>
            <a:off x="-2315732" y="8480201"/>
            <a:ext cx="4201427" cy="4201427"/>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txBody>
            <a:bodyPr/>
            <a:lstStyle/>
            <a:p>
              <a:endParaRPr lang="en-US"/>
            </a:p>
          </p:txBody>
        </p:sp>
        <p:sp>
          <p:nvSpPr>
            <p:cNvPr id="31" name="TextBox 31"/>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latin typeface="Times New Roman"/>
                <a:cs typeface="Times New Roman"/>
              </a:endParaRPr>
            </a:p>
          </p:txBody>
        </p:sp>
      </p:grpSp>
      <p:grpSp>
        <p:nvGrpSpPr>
          <p:cNvPr id="32" name="Group 2">
            <a:extLst>
              <a:ext uri="{FF2B5EF4-FFF2-40B4-BE49-F238E27FC236}">
                <a16:creationId xmlns:a16="http://schemas.microsoft.com/office/drawing/2014/main" id="{22267BC7-64D3-A7D2-4D17-B790DC2CD752}"/>
              </a:ext>
            </a:extLst>
          </p:cNvPr>
          <p:cNvGrpSpPr/>
          <p:nvPr/>
        </p:nvGrpSpPr>
        <p:grpSpPr>
          <a:xfrm>
            <a:off x="1974144" y="6222317"/>
            <a:ext cx="4254836" cy="1786510"/>
            <a:chOff x="-22373" y="-102688"/>
            <a:chExt cx="1045514" cy="379687"/>
          </a:xfrm>
        </p:grpSpPr>
        <p:sp>
          <p:nvSpPr>
            <p:cNvPr id="33" name="Freeform 3">
              <a:extLst>
                <a:ext uri="{FF2B5EF4-FFF2-40B4-BE49-F238E27FC236}">
                  <a16:creationId xmlns:a16="http://schemas.microsoft.com/office/drawing/2014/main" id="{7E093D3A-9754-2CCF-43ED-A0C792A9CFA5}"/>
                </a:ext>
              </a:extLst>
            </p:cNvPr>
            <p:cNvSpPr/>
            <p:nvPr/>
          </p:nvSpPr>
          <p:spPr>
            <a:xfrm>
              <a:off x="-22373" y="-102688"/>
              <a:ext cx="1045514" cy="377637"/>
            </a:xfrm>
            <a:custGeom>
              <a:avLst/>
              <a:gdLst/>
              <a:ahLst/>
              <a:cxnLst/>
              <a:rect l="l" t="t" r="r" b="b"/>
              <a:pathLst>
                <a:path w="812800" h="276999">
                  <a:moveTo>
                    <a:pt x="0" y="0"/>
                  </a:moveTo>
                  <a:lnTo>
                    <a:pt x="812800" y="0"/>
                  </a:lnTo>
                  <a:lnTo>
                    <a:pt x="812800" y="276999"/>
                  </a:lnTo>
                  <a:lnTo>
                    <a:pt x="0" y="276999"/>
                  </a:lnTo>
                  <a:close/>
                </a:path>
              </a:pathLst>
            </a:custGeom>
            <a:solidFill>
              <a:srgbClr val="106861"/>
            </a:solidFill>
          </p:spPr>
          <p:txBody>
            <a:bodyPr/>
            <a:lstStyle/>
            <a:p>
              <a:endParaRPr lang="en-US"/>
            </a:p>
          </p:txBody>
        </p:sp>
        <p:sp>
          <p:nvSpPr>
            <p:cNvPr id="34" name="TextBox 4">
              <a:extLst>
                <a:ext uri="{FF2B5EF4-FFF2-40B4-BE49-F238E27FC236}">
                  <a16:creationId xmlns:a16="http://schemas.microsoft.com/office/drawing/2014/main" id="{A9D9B953-7C09-D16A-6F56-7FEB5089FD00}"/>
                </a:ext>
              </a:extLst>
            </p:cNvPr>
            <p:cNvSpPr txBox="1"/>
            <p:nvPr/>
          </p:nvSpPr>
          <p:spPr>
            <a:xfrm>
              <a:off x="0" y="-38100"/>
              <a:ext cx="812800" cy="315099"/>
            </a:xfrm>
            <a:prstGeom prst="rect">
              <a:avLst/>
            </a:prstGeom>
          </p:spPr>
          <p:txBody>
            <a:bodyPr lIns="50800" tIns="50800" rIns="50800" bIns="50800" rtlCol="0" anchor="ctr"/>
            <a:lstStyle/>
            <a:p>
              <a:pPr algn="ctr">
                <a:lnSpc>
                  <a:spcPts val="3035"/>
                </a:lnSpc>
              </a:pPr>
              <a:endParaRPr>
                <a:latin typeface="Times New Roman"/>
                <a:cs typeface="Times New Roman"/>
              </a:endParaRPr>
            </a:p>
          </p:txBody>
        </p:sp>
      </p:grpSp>
      <p:sp>
        <p:nvSpPr>
          <p:cNvPr id="35" name="TextBox 5">
            <a:extLst>
              <a:ext uri="{FF2B5EF4-FFF2-40B4-BE49-F238E27FC236}">
                <a16:creationId xmlns:a16="http://schemas.microsoft.com/office/drawing/2014/main" id="{605D2865-F7FA-F9CF-5050-1FA530A27590}"/>
              </a:ext>
            </a:extLst>
          </p:cNvPr>
          <p:cNvSpPr txBox="1"/>
          <p:nvPr/>
        </p:nvSpPr>
        <p:spPr>
          <a:xfrm>
            <a:off x="2177337" y="6586685"/>
            <a:ext cx="3678241" cy="1057469"/>
          </a:xfrm>
          <a:prstGeom prst="rect">
            <a:avLst/>
          </a:prstGeom>
        </p:spPr>
        <p:txBody>
          <a:bodyPr wrap="square" lIns="0" tIns="0" rIns="0" bIns="0" rtlCol="0" anchor="t">
            <a:spAutoFit/>
          </a:bodyPr>
          <a:lstStyle/>
          <a:p>
            <a:pPr>
              <a:lnSpc>
                <a:spcPts val="4306"/>
              </a:lnSpc>
            </a:pPr>
            <a:r>
              <a:rPr lang="en-US" sz="2800" spc="9" dirty="0">
                <a:solidFill>
                  <a:srgbClr val="FFFFFF"/>
                </a:solidFill>
                <a:latin typeface="Times New Roman"/>
                <a:cs typeface="Times New Roman"/>
                <a:sym typeface="Open Sauce"/>
              </a:rPr>
              <a:t>Ishrat Zaman</a:t>
            </a:r>
            <a:endParaRPr lang="en-US" sz="2800" spc="9" dirty="0">
              <a:solidFill>
                <a:srgbClr val="000000"/>
              </a:solidFill>
              <a:latin typeface="Times New Roman"/>
              <a:cs typeface="Times New Roman"/>
            </a:endParaRPr>
          </a:p>
          <a:p>
            <a:pPr>
              <a:lnSpc>
                <a:spcPts val="4306"/>
              </a:lnSpc>
            </a:pPr>
            <a:r>
              <a:rPr lang="en-US" sz="2800" spc="9" dirty="0">
                <a:solidFill>
                  <a:srgbClr val="FFFFFF"/>
                </a:solidFill>
                <a:latin typeface="Times New Roman"/>
                <a:cs typeface="Times New Roman"/>
                <a:sym typeface="Open Sauce"/>
              </a:rPr>
              <a:t>Roll : NFH2325021F</a:t>
            </a:r>
            <a:endParaRPr lang="en-US" sz="2800" spc="9" dirty="0">
              <a:solidFill>
                <a:srgbClr val="FFFFFF"/>
              </a:solidFill>
              <a:latin typeface="Times New Roman"/>
              <a:cs typeface="Times New Roman"/>
            </a:endParaRPr>
          </a:p>
        </p:txBody>
      </p:sp>
      <p:grpSp>
        <p:nvGrpSpPr>
          <p:cNvPr id="36" name="Group 2">
            <a:extLst>
              <a:ext uri="{FF2B5EF4-FFF2-40B4-BE49-F238E27FC236}">
                <a16:creationId xmlns:a16="http://schemas.microsoft.com/office/drawing/2014/main" id="{C2F525EA-32D9-6F05-5B0E-338DC08338A9}"/>
              </a:ext>
            </a:extLst>
          </p:cNvPr>
          <p:cNvGrpSpPr/>
          <p:nvPr/>
        </p:nvGrpSpPr>
        <p:grpSpPr>
          <a:xfrm>
            <a:off x="9142384" y="3397475"/>
            <a:ext cx="4516094" cy="1835495"/>
            <a:chOff x="-2312" y="-99340"/>
            <a:chExt cx="1040510" cy="376339"/>
          </a:xfrm>
        </p:grpSpPr>
        <p:sp>
          <p:nvSpPr>
            <p:cNvPr id="37" name="Freeform 3">
              <a:extLst>
                <a:ext uri="{FF2B5EF4-FFF2-40B4-BE49-F238E27FC236}">
                  <a16:creationId xmlns:a16="http://schemas.microsoft.com/office/drawing/2014/main" id="{BBD51BB9-D9BC-2EF3-C320-D7C470DEA8E4}"/>
                </a:ext>
              </a:extLst>
            </p:cNvPr>
            <p:cNvSpPr/>
            <p:nvPr/>
          </p:nvSpPr>
          <p:spPr>
            <a:xfrm>
              <a:off x="-2312" y="-99340"/>
              <a:ext cx="1040510" cy="374167"/>
            </a:xfrm>
            <a:custGeom>
              <a:avLst/>
              <a:gdLst/>
              <a:ahLst/>
              <a:cxnLst/>
              <a:rect l="l" t="t" r="r" b="b"/>
              <a:pathLst>
                <a:path w="812800" h="276999">
                  <a:moveTo>
                    <a:pt x="0" y="0"/>
                  </a:moveTo>
                  <a:lnTo>
                    <a:pt x="812800" y="0"/>
                  </a:lnTo>
                  <a:lnTo>
                    <a:pt x="812800" y="276999"/>
                  </a:lnTo>
                  <a:lnTo>
                    <a:pt x="0" y="276999"/>
                  </a:lnTo>
                  <a:close/>
                </a:path>
              </a:pathLst>
            </a:custGeom>
            <a:solidFill>
              <a:srgbClr val="106861"/>
            </a:solidFill>
          </p:spPr>
          <p:txBody>
            <a:bodyPr/>
            <a:lstStyle/>
            <a:p>
              <a:endParaRPr lang="en-US"/>
            </a:p>
          </p:txBody>
        </p:sp>
        <p:sp>
          <p:nvSpPr>
            <p:cNvPr id="38" name="TextBox 4">
              <a:extLst>
                <a:ext uri="{FF2B5EF4-FFF2-40B4-BE49-F238E27FC236}">
                  <a16:creationId xmlns:a16="http://schemas.microsoft.com/office/drawing/2014/main" id="{0A1A2407-5C79-6B03-3C92-99060E51E1A3}"/>
                </a:ext>
              </a:extLst>
            </p:cNvPr>
            <p:cNvSpPr txBox="1"/>
            <p:nvPr/>
          </p:nvSpPr>
          <p:spPr>
            <a:xfrm>
              <a:off x="0" y="-38100"/>
              <a:ext cx="812800" cy="315099"/>
            </a:xfrm>
            <a:prstGeom prst="rect">
              <a:avLst/>
            </a:prstGeom>
          </p:spPr>
          <p:txBody>
            <a:bodyPr lIns="50800" tIns="50800" rIns="50800" bIns="50800" rtlCol="0" anchor="ctr"/>
            <a:lstStyle/>
            <a:p>
              <a:pPr algn="ctr">
                <a:lnSpc>
                  <a:spcPts val="3035"/>
                </a:lnSpc>
              </a:pPr>
              <a:endParaRPr>
                <a:latin typeface="Times New Roman"/>
                <a:cs typeface="Times New Roman"/>
              </a:endParaRPr>
            </a:p>
          </p:txBody>
        </p:sp>
      </p:grpSp>
      <p:sp>
        <p:nvSpPr>
          <p:cNvPr id="39" name="TextBox 5">
            <a:extLst>
              <a:ext uri="{FF2B5EF4-FFF2-40B4-BE49-F238E27FC236}">
                <a16:creationId xmlns:a16="http://schemas.microsoft.com/office/drawing/2014/main" id="{8B6038BA-41F5-6F42-ABE9-FC9AA8BEECF5}"/>
              </a:ext>
            </a:extLst>
          </p:cNvPr>
          <p:cNvSpPr txBox="1"/>
          <p:nvPr/>
        </p:nvSpPr>
        <p:spPr>
          <a:xfrm>
            <a:off x="9557851" y="3729184"/>
            <a:ext cx="3678241" cy="1500667"/>
          </a:xfrm>
          <a:prstGeom prst="rect">
            <a:avLst/>
          </a:prstGeom>
        </p:spPr>
        <p:txBody>
          <a:bodyPr wrap="square" lIns="0" tIns="0" rIns="0" bIns="0" rtlCol="0" anchor="t">
            <a:spAutoFit/>
          </a:bodyPr>
          <a:lstStyle/>
          <a:p>
            <a:pPr>
              <a:lnSpc>
                <a:spcPts val="4306"/>
              </a:lnSpc>
            </a:pPr>
            <a:r>
              <a:rPr lang="en-US" sz="2800" spc="9">
                <a:solidFill>
                  <a:srgbClr val="FFFFFF"/>
                </a:solidFill>
                <a:latin typeface="Times New Roman"/>
                <a:ea typeface="Open Sauce"/>
                <a:cs typeface="Times New Roman"/>
                <a:sym typeface="Open Sauce"/>
              </a:rPr>
              <a:t>Md. Ariful Islam</a:t>
            </a:r>
            <a:endParaRPr lang="en-US" sz="2800" spc="9">
              <a:solidFill>
                <a:srgbClr val="000000"/>
              </a:solidFill>
              <a:latin typeface="Times New Roman"/>
              <a:ea typeface="Open Sauce"/>
              <a:cs typeface="Times New Roman"/>
              <a:sym typeface="Open Sauce"/>
            </a:endParaRPr>
          </a:p>
          <a:p>
            <a:pPr>
              <a:lnSpc>
                <a:spcPts val="4306"/>
              </a:lnSpc>
            </a:pPr>
            <a:r>
              <a:rPr lang="en-US" sz="2800" spc="9">
                <a:solidFill>
                  <a:srgbClr val="FFFFFF"/>
                </a:solidFill>
                <a:latin typeface="Times New Roman"/>
                <a:ea typeface="Open Sauce"/>
                <a:cs typeface="Times New Roman"/>
                <a:sym typeface="Open Sauce"/>
              </a:rPr>
              <a:t>Roll : MUH2325010M</a:t>
            </a:r>
            <a:endParaRPr lang="en-US" sz="2800" spc="9">
              <a:solidFill>
                <a:srgbClr val="000000"/>
              </a:solidFill>
              <a:latin typeface="Times New Roman"/>
              <a:ea typeface="Open Sauce"/>
              <a:cs typeface="Times New Roman"/>
              <a:sym typeface="Open Sauce"/>
            </a:endParaRPr>
          </a:p>
          <a:p>
            <a:pPr marL="0" lvl="0" indent="0" algn="ctr">
              <a:lnSpc>
                <a:spcPts val="3413"/>
              </a:lnSpc>
              <a:spcBef>
                <a:spcPct val="0"/>
              </a:spcBef>
            </a:pPr>
            <a:endParaRPr lang="en-US" sz="2400" spc="9">
              <a:solidFill>
                <a:srgbClr val="FFFBFB"/>
              </a:solidFill>
              <a:latin typeface="Times New Roman"/>
              <a:ea typeface="Open Sauce"/>
              <a:cs typeface="Times New Roman"/>
            </a:endParaRPr>
          </a:p>
        </p:txBody>
      </p:sp>
      <p:grpSp>
        <p:nvGrpSpPr>
          <p:cNvPr id="40" name="Group 2">
            <a:extLst>
              <a:ext uri="{FF2B5EF4-FFF2-40B4-BE49-F238E27FC236}">
                <a16:creationId xmlns:a16="http://schemas.microsoft.com/office/drawing/2014/main" id="{F869A1B5-DDCE-4401-9B31-022724629814}"/>
              </a:ext>
            </a:extLst>
          </p:cNvPr>
          <p:cNvGrpSpPr/>
          <p:nvPr/>
        </p:nvGrpSpPr>
        <p:grpSpPr>
          <a:xfrm>
            <a:off x="9142384" y="6222317"/>
            <a:ext cx="4516094" cy="1868152"/>
            <a:chOff x="-2312" y="-102688"/>
            <a:chExt cx="1029465" cy="379687"/>
          </a:xfrm>
        </p:grpSpPr>
        <p:sp>
          <p:nvSpPr>
            <p:cNvPr id="41" name="Freeform 3">
              <a:extLst>
                <a:ext uri="{FF2B5EF4-FFF2-40B4-BE49-F238E27FC236}">
                  <a16:creationId xmlns:a16="http://schemas.microsoft.com/office/drawing/2014/main" id="{5A5C24EB-5931-2E1D-1073-25CB7C99CDDF}"/>
                </a:ext>
              </a:extLst>
            </p:cNvPr>
            <p:cNvSpPr/>
            <p:nvPr/>
          </p:nvSpPr>
          <p:spPr>
            <a:xfrm>
              <a:off x="-2312" y="-102688"/>
              <a:ext cx="1029465" cy="377637"/>
            </a:xfrm>
            <a:custGeom>
              <a:avLst/>
              <a:gdLst/>
              <a:ahLst/>
              <a:cxnLst/>
              <a:rect l="l" t="t" r="r" b="b"/>
              <a:pathLst>
                <a:path w="812800" h="276999">
                  <a:moveTo>
                    <a:pt x="0" y="0"/>
                  </a:moveTo>
                  <a:lnTo>
                    <a:pt x="812800" y="0"/>
                  </a:lnTo>
                  <a:lnTo>
                    <a:pt x="812800" y="276999"/>
                  </a:lnTo>
                  <a:lnTo>
                    <a:pt x="0" y="276999"/>
                  </a:lnTo>
                  <a:close/>
                </a:path>
              </a:pathLst>
            </a:custGeom>
            <a:solidFill>
              <a:srgbClr val="106861"/>
            </a:solidFill>
          </p:spPr>
          <p:txBody>
            <a:bodyPr/>
            <a:lstStyle/>
            <a:p>
              <a:endParaRPr lang="en-US"/>
            </a:p>
          </p:txBody>
        </p:sp>
        <p:sp>
          <p:nvSpPr>
            <p:cNvPr id="42" name="TextBox 4">
              <a:extLst>
                <a:ext uri="{FF2B5EF4-FFF2-40B4-BE49-F238E27FC236}">
                  <a16:creationId xmlns:a16="http://schemas.microsoft.com/office/drawing/2014/main" id="{7FA5CA3F-0993-F764-B773-72FD678D16D8}"/>
                </a:ext>
              </a:extLst>
            </p:cNvPr>
            <p:cNvSpPr txBox="1"/>
            <p:nvPr/>
          </p:nvSpPr>
          <p:spPr>
            <a:xfrm>
              <a:off x="0" y="-38100"/>
              <a:ext cx="812800" cy="315099"/>
            </a:xfrm>
            <a:prstGeom prst="rect">
              <a:avLst/>
            </a:prstGeom>
          </p:spPr>
          <p:txBody>
            <a:bodyPr lIns="50800" tIns="50800" rIns="50800" bIns="50800" rtlCol="0" anchor="ctr"/>
            <a:lstStyle/>
            <a:p>
              <a:pPr algn="ctr">
                <a:lnSpc>
                  <a:spcPts val="3035"/>
                </a:lnSpc>
              </a:pPr>
              <a:endParaRPr>
                <a:latin typeface="Times New Roman"/>
                <a:cs typeface="Times New Roman"/>
              </a:endParaRPr>
            </a:p>
          </p:txBody>
        </p:sp>
      </p:grpSp>
      <p:sp>
        <p:nvSpPr>
          <p:cNvPr id="43" name="TextBox 5">
            <a:extLst>
              <a:ext uri="{FF2B5EF4-FFF2-40B4-BE49-F238E27FC236}">
                <a16:creationId xmlns:a16="http://schemas.microsoft.com/office/drawing/2014/main" id="{02787528-611F-68E5-0F3F-CC5A7010C445}"/>
              </a:ext>
            </a:extLst>
          </p:cNvPr>
          <p:cNvSpPr txBox="1"/>
          <p:nvPr/>
        </p:nvSpPr>
        <p:spPr>
          <a:xfrm>
            <a:off x="7304508" y="5819242"/>
            <a:ext cx="3678241" cy="398892"/>
          </a:xfrm>
          <a:prstGeom prst="rect">
            <a:avLst/>
          </a:prstGeom>
        </p:spPr>
        <p:txBody>
          <a:bodyPr wrap="square" lIns="0" tIns="0" rIns="0" bIns="0" rtlCol="0" anchor="t">
            <a:spAutoFit/>
          </a:bodyPr>
          <a:lstStyle/>
          <a:p>
            <a:pPr marL="0" lvl="0" indent="0" algn="ctr">
              <a:lnSpc>
                <a:spcPts val="3413"/>
              </a:lnSpc>
              <a:spcBef>
                <a:spcPct val="0"/>
              </a:spcBef>
            </a:pPr>
            <a:r>
              <a:rPr lang="en-US" sz="2438" spc="9">
                <a:solidFill>
                  <a:srgbClr val="FFFBFB"/>
                </a:solidFill>
                <a:latin typeface="Times New Roman"/>
                <a:ea typeface="Open Sauce"/>
                <a:cs typeface="Times New Roman"/>
                <a:sym typeface="Open Sauce"/>
              </a:rPr>
              <a:t>Claudia Alves</a:t>
            </a:r>
          </a:p>
        </p:txBody>
      </p:sp>
      <p:sp>
        <p:nvSpPr>
          <p:cNvPr id="44" name="TextBox 5">
            <a:extLst>
              <a:ext uri="{FF2B5EF4-FFF2-40B4-BE49-F238E27FC236}">
                <a16:creationId xmlns:a16="http://schemas.microsoft.com/office/drawing/2014/main" id="{51B8450B-6304-9064-1C92-81E30D37F386}"/>
              </a:ext>
            </a:extLst>
          </p:cNvPr>
          <p:cNvSpPr txBox="1"/>
          <p:nvPr/>
        </p:nvSpPr>
        <p:spPr>
          <a:xfrm>
            <a:off x="9312924" y="6505041"/>
            <a:ext cx="4151769" cy="1500667"/>
          </a:xfrm>
          <a:prstGeom prst="rect">
            <a:avLst/>
          </a:prstGeom>
        </p:spPr>
        <p:txBody>
          <a:bodyPr wrap="square" lIns="0" tIns="0" rIns="0" bIns="0" rtlCol="0" anchor="t">
            <a:spAutoFit/>
          </a:bodyPr>
          <a:lstStyle/>
          <a:p>
            <a:pPr>
              <a:lnSpc>
                <a:spcPts val="4306"/>
              </a:lnSpc>
            </a:pPr>
            <a:r>
              <a:rPr lang="en-US" sz="2800" spc="9">
                <a:solidFill>
                  <a:srgbClr val="FFFFFF"/>
                </a:solidFill>
                <a:latin typeface="Times New Roman"/>
                <a:ea typeface="Open Sauce"/>
                <a:cs typeface="Times New Roman"/>
                <a:sym typeface="Open Sauce"/>
              </a:rPr>
              <a:t>Mohammed </a:t>
            </a:r>
            <a:r>
              <a:rPr lang="en-US" sz="2800" spc="9" err="1">
                <a:solidFill>
                  <a:srgbClr val="FFFFFF"/>
                </a:solidFill>
                <a:latin typeface="Times New Roman"/>
                <a:ea typeface="Open Sauce"/>
                <a:cs typeface="Times New Roman"/>
                <a:sym typeface="Open Sauce"/>
              </a:rPr>
              <a:t>Karimul</a:t>
            </a:r>
            <a:r>
              <a:rPr lang="en-US" sz="2800" spc="9">
                <a:solidFill>
                  <a:srgbClr val="FFFFFF"/>
                </a:solidFill>
                <a:latin typeface="Times New Roman"/>
                <a:ea typeface="Open Sauce"/>
                <a:cs typeface="Times New Roman"/>
                <a:sym typeface="Open Sauce"/>
              </a:rPr>
              <a:t> Mowla</a:t>
            </a:r>
            <a:endParaRPr lang="en-US" sz="2800" spc="9">
              <a:solidFill>
                <a:srgbClr val="000000"/>
              </a:solidFill>
              <a:latin typeface="Times New Roman"/>
              <a:ea typeface="Open Sauce"/>
              <a:cs typeface="Times New Roman"/>
              <a:sym typeface="Open Sauce"/>
            </a:endParaRPr>
          </a:p>
          <a:p>
            <a:pPr>
              <a:lnSpc>
                <a:spcPts val="4306"/>
              </a:lnSpc>
            </a:pPr>
            <a:r>
              <a:rPr lang="en-US" sz="2800" spc="9">
                <a:solidFill>
                  <a:srgbClr val="FFFFFF"/>
                </a:solidFill>
                <a:latin typeface="Times New Roman"/>
                <a:ea typeface="Open Sauce"/>
                <a:cs typeface="Times New Roman"/>
                <a:sym typeface="Open Sauce"/>
              </a:rPr>
              <a:t>Roll : ASH2325031M</a:t>
            </a:r>
            <a:endParaRPr lang="en-US" sz="2800" spc="9">
              <a:solidFill>
                <a:srgbClr val="000000"/>
              </a:solidFill>
              <a:latin typeface="Times New Roman"/>
              <a:ea typeface="Open Sauce"/>
              <a:cs typeface="Times New Roman"/>
              <a:sym typeface="Open Sauce"/>
            </a:endParaRPr>
          </a:p>
          <a:p>
            <a:pPr marL="0" lvl="0" indent="0" algn="ctr">
              <a:lnSpc>
                <a:spcPts val="3413"/>
              </a:lnSpc>
              <a:spcBef>
                <a:spcPct val="0"/>
              </a:spcBef>
            </a:pPr>
            <a:endParaRPr lang="en-US" sz="2400" spc="9">
              <a:solidFill>
                <a:srgbClr val="FFFBFB"/>
              </a:solidFill>
              <a:latin typeface="Times New Roman"/>
              <a:ea typeface="Open Sauce"/>
              <a:cs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8881967" y="-2828925"/>
            <a:ext cx="5657850" cy="565785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txBody>
            <a:bodyPr/>
            <a:lstStyle/>
            <a:p>
              <a:endParaRPr lang="en-US"/>
            </a:p>
          </p:txBody>
        </p:sp>
        <p:sp>
          <p:nvSpPr>
            <p:cNvPr id="4" name="TextBox 4"/>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5" name="Group 5"/>
          <p:cNvGrpSpPr/>
          <p:nvPr/>
        </p:nvGrpSpPr>
        <p:grpSpPr>
          <a:xfrm>
            <a:off x="11710892" y="0"/>
            <a:ext cx="6648057" cy="10287000"/>
            <a:chOff x="0" y="0"/>
            <a:chExt cx="1750928" cy="2709333"/>
          </a:xfrm>
        </p:grpSpPr>
        <p:sp>
          <p:nvSpPr>
            <p:cNvPr id="6" name="Freeform 6"/>
            <p:cNvSpPr/>
            <p:nvPr/>
          </p:nvSpPr>
          <p:spPr>
            <a:xfrm>
              <a:off x="0" y="0"/>
              <a:ext cx="1750928" cy="2709333"/>
            </a:xfrm>
            <a:custGeom>
              <a:avLst/>
              <a:gdLst/>
              <a:ahLst/>
              <a:cxnLst/>
              <a:rect l="l" t="t" r="r" b="b"/>
              <a:pathLst>
                <a:path w="1750928" h="2709333">
                  <a:moveTo>
                    <a:pt x="0" y="0"/>
                  </a:moveTo>
                  <a:lnTo>
                    <a:pt x="1750928" y="0"/>
                  </a:lnTo>
                  <a:lnTo>
                    <a:pt x="1750928" y="2709333"/>
                  </a:lnTo>
                  <a:lnTo>
                    <a:pt x="0" y="2709333"/>
                  </a:lnTo>
                  <a:close/>
                </a:path>
              </a:pathLst>
            </a:custGeom>
            <a:solidFill>
              <a:srgbClr val="106861"/>
            </a:solidFill>
            <a:ln cap="sq">
              <a:noFill/>
              <a:prstDash val="solid"/>
              <a:miter/>
            </a:ln>
          </p:spPr>
          <p:txBody>
            <a:bodyPr/>
            <a:lstStyle/>
            <a:p>
              <a:endParaRPr lang="en-US"/>
            </a:p>
          </p:txBody>
        </p:sp>
        <p:sp>
          <p:nvSpPr>
            <p:cNvPr id="7" name="TextBox 7"/>
            <p:cNvSpPr txBox="1"/>
            <p:nvPr/>
          </p:nvSpPr>
          <p:spPr>
            <a:xfrm>
              <a:off x="0" y="-19050"/>
              <a:ext cx="1750928" cy="2728383"/>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8" name="TextBox 8"/>
          <p:cNvSpPr txBox="1"/>
          <p:nvPr/>
        </p:nvSpPr>
        <p:spPr>
          <a:xfrm>
            <a:off x="1295137" y="1754095"/>
            <a:ext cx="3630003" cy="808613"/>
          </a:xfrm>
          <a:prstGeom prst="rect">
            <a:avLst/>
          </a:prstGeom>
        </p:spPr>
        <p:txBody>
          <a:bodyPr lIns="0" tIns="0" rIns="0" bIns="0" rtlCol="0" anchor="t">
            <a:spAutoFit/>
          </a:bodyPr>
          <a:lstStyle/>
          <a:p>
            <a:pPr marL="0" lvl="0" indent="0" algn="l">
              <a:lnSpc>
                <a:spcPts val="6644"/>
              </a:lnSpc>
              <a:spcBef>
                <a:spcPct val="0"/>
              </a:spcBef>
            </a:pPr>
            <a:r>
              <a:rPr lang="en-US" sz="4746" b="1" spc="-94">
                <a:solidFill>
                  <a:srgbClr val="191919"/>
                </a:solidFill>
                <a:latin typeface="Open Sauce Bold"/>
                <a:ea typeface="Open Sauce Bold"/>
                <a:cs typeface="Open Sauce Bold"/>
                <a:sym typeface="Open Sauce Bold"/>
              </a:rPr>
              <a:t>Overview</a:t>
            </a:r>
          </a:p>
        </p:txBody>
      </p:sp>
      <p:sp>
        <p:nvSpPr>
          <p:cNvPr id="9" name="TextBox 9"/>
          <p:cNvSpPr txBox="1"/>
          <p:nvPr/>
        </p:nvSpPr>
        <p:spPr>
          <a:xfrm>
            <a:off x="1695140" y="3096108"/>
            <a:ext cx="5856033" cy="6557501"/>
          </a:xfrm>
          <a:prstGeom prst="rect">
            <a:avLst/>
          </a:prstGeom>
        </p:spPr>
        <p:txBody>
          <a:bodyPr wrap="square" lIns="0" tIns="0" rIns="0" bIns="0" rtlCol="0" anchor="t">
            <a:spAutoFit/>
          </a:bodyPr>
          <a:lstStyle/>
          <a:p>
            <a:pPr marL="739775" lvl="1" indent="-457200" algn="l">
              <a:lnSpc>
                <a:spcPts val="4345"/>
              </a:lnSpc>
              <a:buFont typeface="Wingdings"/>
              <a:buChar char="Ø"/>
            </a:pPr>
            <a:r>
              <a:rPr lang="en-US" sz="2600" dirty="0">
                <a:solidFill>
                  <a:srgbClr val="191919"/>
                </a:solidFill>
                <a:latin typeface="Times New Roman"/>
                <a:cs typeface="Times New Roman"/>
              </a:rPr>
              <a:t>Introduction</a:t>
            </a:r>
            <a:endParaRPr lang="en-US" dirty="0">
              <a:latin typeface="Times New Roman"/>
              <a:cs typeface="Times New Roman"/>
            </a:endParaRPr>
          </a:p>
          <a:p>
            <a:pPr marL="739775" lvl="1" indent="-457200">
              <a:lnSpc>
                <a:spcPts val="4345"/>
              </a:lnSpc>
              <a:buFont typeface="Wingdings"/>
              <a:buChar char="Ø"/>
            </a:pPr>
            <a:r>
              <a:rPr lang="en-US" sz="2600" dirty="0">
                <a:solidFill>
                  <a:srgbClr val="191919"/>
                </a:solidFill>
                <a:latin typeface="Times New Roman"/>
                <a:ea typeface="Open Sauce"/>
                <a:cs typeface="Open Sauce"/>
              </a:rPr>
              <a:t>Key Features</a:t>
            </a:r>
          </a:p>
          <a:p>
            <a:pPr marL="739775" lvl="1" indent="-457200">
              <a:lnSpc>
                <a:spcPts val="4345"/>
              </a:lnSpc>
              <a:buFont typeface="Wingdings"/>
              <a:buChar char="Ø"/>
            </a:pPr>
            <a:r>
              <a:rPr lang="en-US" sz="2600" dirty="0">
                <a:solidFill>
                  <a:srgbClr val="191919"/>
                </a:solidFill>
                <a:latin typeface="Times New Roman"/>
                <a:cs typeface="Times New Roman"/>
              </a:rPr>
              <a:t>Stakeholders</a:t>
            </a:r>
          </a:p>
          <a:p>
            <a:pPr marL="739775" lvl="1" indent="-457200">
              <a:lnSpc>
                <a:spcPts val="4345"/>
              </a:lnSpc>
              <a:buFont typeface="Wingdings"/>
              <a:buChar char="Ø"/>
            </a:pPr>
            <a:r>
              <a:rPr lang="en-US" sz="2600" dirty="0">
                <a:solidFill>
                  <a:srgbClr val="191919"/>
                </a:solidFill>
                <a:latin typeface="Times New Roman"/>
                <a:cs typeface="Times New Roman"/>
              </a:rPr>
              <a:t>Requirement Elicitation Techniques</a:t>
            </a:r>
          </a:p>
          <a:p>
            <a:pPr marL="739775" lvl="1" indent="-457200">
              <a:lnSpc>
                <a:spcPts val="4345"/>
              </a:lnSpc>
              <a:buFont typeface="Wingdings"/>
              <a:buChar char="Ø"/>
            </a:pPr>
            <a:r>
              <a:rPr lang="en-US" sz="2800" dirty="0">
                <a:latin typeface="Times New Roman" panose="02020603050405020304" pitchFamily="18" charset="0"/>
                <a:ea typeface="Prompt Medium" pitchFamily="34" charset="-122"/>
                <a:cs typeface="Times New Roman" panose="02020603050405020304" pitchFamily="18" charset="0"/>
              </a:rPr>
              <a:t>Preliminary Concept vs.  </a:t>
            </a:r>
          </a:p>
          <a:p>
            <a:pPr marL="282575" lvl="1">
              <a:lnSpc>
                <a:spcPts val="4345"/>
              </a:lnSpc>
            </a:pPr>
            <a:r>
              <a:rPr lang="en-US" sz="2800" dirty="0">
                <a:latin typeface="Times New Roman" panose="02020603050405020304" pitchFamily="18" charset="0"/>
                <a:ea typeface="Prompt Medium" pitchFamily="34" charset="-122"/>
                <a:cs typeface="Times New Roman" panose="02020603050405020304" pitchFamily="18" charset="0"/>
              </a:rPr>
              <a:t>     Finalized Concept</a:t>
            </a:r>
          </a:p>
          <a:p>
            <a:pPr marL="739775" lvl="1" indent="-457200">
              <a:lnSpc>
                <a:spcPts val="4345"/>
              </a:lnSpc>
              <a:buFont typeface="Wingdings"/>
              <a:buChar char="Ø"/>
            </a:pPr>
            <a:r>
              <a:rPr lang="en-US" sz="2800" spc="-93" dirty="0">
                <a:latin typeface="Times New Roman"/>
                <a:ea typeface="Calibri"/>
                <a:cs typeface="Calibri"/>
              </a:rPr>
              <a:t>Stakeholders Engagement </a:t>
            </a:r>
            <a:endParaRPr lang="en-US" sz="2600" dirty="0">
              <a:solidFill>
                <a:srgbClr val="191919"/>
              </a:solidFill>
              <a:latin typeface="Times New Roman"/>
              <a:cs typeface="Times New Roman"/>
            </a:endParaRPr>
          </a:p>
          <a:p>
            <a:pPr marL="739775" lvl="1" indent="-457200">
              <a:lnSpc>
                <a:spcPts val="4345"/>
              </a:lnSpc>
              <a:buFont typeface="Wingdings"/>
              <a:buChar char="Ø"/>
            </a:pPr>
            <a:r>
              <a:rPr lang="en-US" sz="2600" dirty="0">
                <a:solidFill>
                  <a:srgbClr val="191919"/>
                </a:solidFill>
                <a:latin typeface="Times New Roman"/>
                <a:cs typeface="Times New Roman"/>
              </a:rPr>
              <a:t>Project Scenarios</a:t>
            </a:r>
          </a:p>
          <a:p>
            <a:pPr marL="739775" lvl="1" indent="-457200">
              <a:lnSpc>
                <a:spcPts val="4345"/>
              </a:lnSpc>
              <a:buFont typeface="Wingdings"/>
              <a:buChar char="Ø"/>
            </a:pPr>
            <a:r>
              <a:rPr lang="en-US" sz="2600" dirty="0">
                <a:solidFill>
                  <a:srgbClr val="191919"/>
                </a:solidFill>
                <a:latin typeface="Times New Roman"/>
                <a:cs typeface="Times New Roman"/>
              </a:rPr>
              <a:t>Data Flow Diagram </a:t>
            </a:r>
          </a:p>
          <a:p>
            <a:pPr marL="739775" lvl="1" indent="-457200">
              <a:lnSpc>
                <a:spcPts val="4345"/>
              </a:lnSpc>
              <a:buFont typeface="Wingdings"/>
              <a:buChar char="Ø"/>
            </a:pPr>
            <a:r>
              <a:rPr lang="en-US" sz="2600" dirty="0">
                <a:solidFill>
                  <a:srgbClr val="191919"/>
                </a:solidFill>
                <a:latin typeface="Times New Roman"/>
                <a:cs typeface="Times New Roman"/>
              </a:rPr>
              <a:t>Use Case Diagram</a:t>
            </a:r>
          </a:p>
          <a:p>
            <a:pPr marL="739775" lvl="1" indent="-457200">
              <a:lnSpc>
                <a:spcPts val="4345"/>
              </a:lnSpc>
              <a:buFont typeface="Wingdings"/>
              <a:buChar char="Ø"/>
            </a:pPr>
            <a:r>
              <a:rPr lang="en-US" sz="2600" dirty="0">
                <a:solidFill>
                  <a:srgbClr val="191919"/>
                </a:solidFill>
                <a:latin typeface="Times New Roman"/>
                <a:cs typeface="Times New Roman"/>
              </a:rPr>
              <a:t>Activity Diagram</a:t>
            </a:r>
          </a:p>
          <a:p>
            <a:pPr marL="739775" lvl="1" indent="-457200">
              <a:lnSpc>
                <a:spcPts val="4345"/>
              </a:lnSpc>
              <a:buFont typeface="Wingdings"/>
              <a:buChar char="Ø"/>
            </a:pPr>
            <a:r>
              <a:rPr lang="en-US" sz="2600" dirty="0">
                <a:solidFill>
                  <a:srgbClr val="191919"/>
                </a:solidFill>
                <a:latin typeface="Times New Roman"/>
                <a:cs typeface="Times New Roman"/>
              </a:rPr>
              <a:t>Conclusion</a:t>
            </a:r>
          </a:p>
        </p:txBody>
      </p:sp>
      <p:grpSp>
        <p:nvGrpSpPr>
          <p:cNvPr id="12" name="Group 12"/>
          <p:cNvGrpSpPr/>
          <p:nvPr/>
        </p:nvGrpSpPr>
        <p:grpSpPr>
          <a:xfrm>
            <a:off x="-1390959" y="8567821"/>
            <a:ext cx="3086100" cy="308610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txBody>
            <a:bodyPr/>
            <a:lstStyle/>
            <a:p>
              <a:endParaRPr lang="en-US"/>
            </a:p>
          </p:txBody>
        </p:sp>
        <p:sp>
          <p:nvSpPr>
            <p:cNvPr id="14" name="TextBox 14"/>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5" name="Group 15"/>
          <p:cNvGrpSpPr/>
          <p:nvPr/>
        </p:nvGrpSpPr>
        <p:grpSpPr>
          <a:xfrm>
            <a:off x="10206536" y="3314080"/>
            <a:ext cx="654889" cy="654889"/>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17" name="TextBox 17"/>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pic>
        <p:nvPicPr>
          <p:cNvPr id="18" name="Picture 17" descr="A person writing on a computer screen&#10;&#10;AI-generated content may be incorrect.">
            <a:extLst>
              <a:ext uri="{FF2B5EF4-FFF2-40B4-BE49-F238E27FC236}">
                <a16:creationId xmlns:a16="http://schemas.microsoft.com/office/drawing/2014/main" id="{8A9BC593-2C83-989A-ECE1-28C6EEAB035C}"/>
              </a:ext>
            </a:extLst>
          </p:cNvPr>
          <p:cNvPicPr>
            <a:picLocks noChangeAspect="1"/>
          </p:cNvPicPr>
          <p:nvPr/>
        </p:nvPicPr>
        <p:blipFill>
          <a:blip r:embed="rId2"/>
          <a:stretch>
            <a:fillRect/>
          </a:stretch>
        </p:blipFill>
        <p:spPr>
          <a:xfrm>
            <a:off x="11720514" y="2722"/>
            <a:ext cx="6636203" cy="10281557"/>
          </a:xfrm>
          <a:prstGeom prst="rect">
            <a:avLst/>
          </a:prstGeom>
          <a:ln>
            <a:noFill/>
          </a:ln>
          <a:effectLst>
            <a:outerShdw blurRad="190500" algn="tl" rotWithShape="0">
              <a:srgbClr val="000000">
                <a:alpha val="70000"/>
              </a:srgbClr>
            </a:outerShdw>
          </a:effec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rot="-10800000">
            <a:off x="2778327" y="7417124"/>
            <a:ext cx="12710840" cy="1184047"/>
          </a:xfrm>
          <a:custGeom>
            <a:avLst/>
            <a:gdLst/>
            <a:ahLst/>
            <a:cxnLst/>
            <a:rect l="l" t="t" r="r" b="b"/>
            <a:pathLst>
              <a:path w="12710840" h="1184047">
                <a:moveTo>
                  <a:pt x="0" y="0"/>
                </a:moveTo>
                <a:lnTo>
                  <a:pt x="12710840" y="0"/>
                </a:lnTo>
                <a:lnTo>
                  <a:pt x="12710840" y="1184046"/>
                </a:lnTo>
                <a:lnTo>
                  <a:pt x="0" y="1184046"/>
                </a:lnTo>
                <a:lnTo>
                  <a:pt x="0" y="0"/>
                </a:lnTo>
                <a:close/>
              </a:path>
            </a:pathLst>
          </a:custGeom>
          <a:blipFill>
            <a:blip r:embed="rId2">
              <a:alphaModFix amt="72000"/>
            </a:blip>
            <a:stretch>
              <a:fillRect b="-208633"/>
            </a:stretch>
          </a:blipFill>
        </p:spPr>
        <p:txBody>
          <a:bodyPr/>
          <a:lstStyle/>
          <a:p>
            <a:endParaRPr lang="en-US"/>
          </a:p>
        </p:txBody>
      </p:sp>
      <p:grpSp>
        <p:nvGrpSpPr>
          <p:cNvPr id="3" name="Group 3"/>
          <p:cNvGrpSpPr/>
          <p:nvPr/>
        </p:nvGrpSpPr>
        <p:grpSpPr>
          <a:xfrm>
            <a:off x="0" y="0"/>
            <a:ext cx="18288000" cy="4491629"/>
            <a:chOff x="0" y="0"/>
            <a:chExt cx="4816593" cy="1182980"/>
          </a:xfrm>
        </p:grpSpPr>
        <p:sp>
          <p:nvSpPr>
            <p:cNvPr id="4" name="Freeform 4"/>
            <p:cNvSpPr/>
            <p:nvPr/>
          </p:nvSpPr>
          <p:spPr>
            <a:xfrm>
              <a:off x="0" y="0"/>
              <a:ext cx="4816592" cy="1182980"/>
            </a:xfrm>
            <a:custGeom>
              <a:avLst/>
              <a:gdLst/>
              <a:ahLst/>
              <a:cxnLst/>
              <a:rect l="l" t="t" r="r" b="b"/>
              <a:pathLst>
                <a:path w="4816592" h="1182980">
                  <a:moveTo>
                    <a:pt x="0" y="0"/>
                  </a:moveTo>
                  <a:lnTo>
                    <a:pt x="4816592" y="0"/>
                  </a:lnTo>
                  <a:lnTo>
                    <a:pt x="4816592" y="1182980"/>
                  </a:lnTo>
                  <a:lnTo>
                    <a:pt x="0" y="1182980"/>
                  </a:lnTo>
                  <a:close/>
                </a:path>
              </a:pathLst>
            </a:custGeom>
            <a:solidFill>
              <a:srgbClr val="106861"/>
            </a:solidFill>
            <a:ln cap="sq">
              <a:noFill/>
              <a:prstDash val="solid"/>
              <a:miter/>
            </a:ln>
          </p:spPr>
          <p:txBody>
            <a:bodyPr/>
            <a:lstStyle/>
            <a:p>
              <a:endParaRPr lang="en-US"/>
            </a:p>
          </p:txBody>
        </p:sp>
        <p:sp>
          <p:nvSpPr>
            <p:cNvPr id="5" name="TextBox 5"/>
            <p:cNvSpPr txBox="1"/>
            <p:nvPr/>
          </p:nvSpPr>
          <p:spPr>
            <a:xfrm>
              <a:off x="0" y="-19050"/>
              <a:ext cx="4816593" cy="120203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Freeform 6"/>
          <p:cNvSpPr/>
          <p:nvPr/>
        </p:nvSpPr>
        <p:spPr>
          <a:xfrm>
            <a:off x="0" y="0"/>
            <a:ext cx="18288000" cy="4491629"/>
          </a:xfrm>
          <a:custGeom>
            <a:avLst/>
            <a:gdLst/>
            <a:ahLst/>
            <a:cxnLst/>
            <a:rect l="l" t="t" r="r" b="b"/>
            <a:pathLst>
              <a:path w="18288000" h="4491629">
                <a:moveTo>
                  <a:pt x="0" y="0"/>
                </a:moveTo>
                <a:lnTo>
                  <a:pt x="18288000" y="0"/>
                </a:lnTo>
                <a:lnTo>
                  <a:pt x="18288000" y="4491629"/>
                </a:lnTo>
                <a:lnTo>
                  <a:pt x="0" y="4491629"/>
                </a:lnTo>
                <a:lnTo>
                  <a:pt x="0" y="0"/>
                </a:lnTo>
                <a:close/>
              </a:path>
            </a:pathLst>
          </a:custGeom>
          <a:blipFill>
            <a:blip r:embed="rId3">
              <a:alphaModFix amt="59000"/>
            </a:blip>
            <a:stretch>
              <a:fillRect t="-85634" b="-85634"/>
            </a:stretch>
          </a:blipFill>
          <a:ln cap="sq">
            <a:noFill/>
            <a:prstDash val="solid"/>
            <a:miter/>
          </a:ln>
        </p:spPr>
        <p:txBody>
          <a:bodyPr/>
          <a:lstStyle/>
          <a:p>
            <a:endParaRPr lang="en-US"/>
          </a:p>
        </p:txBody>
      </p:sp>
      <p:grpSp>
        <p:nvGrpSpPr>
          <p:cNvPr id="7" name="Group 7"/>
          <p:cNvGrpSpPr/>
          <p:nvPr/>
        </p:nvGrpSpPr>
        <p:grpSpPr>
          <a:xfrm>
            <a:off x="282066" y="562119"/>
            <a:ext cx="18260220" cy="10092415"/>
            <a:chOff x="-86062" y="-19050"/>
            <a:chExt cx="3439174" cy="1381041"/>
          </a:xfrm>
        </p:grpSpPr>
        <p:sp>
          <p:nvSpPr>
            <p:cNvPr id="8" name="Freeform 8"/>
            <p:cNvSpPr/>
            <p:nvPr/>
          </p:nvSpPr>
          <p:spPr>
            <a:xfrm>
              <a:off x="-86062" y="37022"/>
              <a:ext cx="3327832" cy="1166741"/>
            </a:xfrm>
            <a:custGeom>
              <a:avLst/>
              <a:gdLst/>
              <a:ahLst/>
              <a:cxnLst/>
              <a:rect l="l" t="t" r="r" b="b"/>
              <a:pathLst>
                <a:path w="3353112" h="1361991">
                  <a:moveTo>
                    <a:pt x="15202" y="0"/>
                  </a:moveTo>
                  <a:lnTo>
                    <a:pt x="3337909" y="0"/>
                  </a:lnTo>
                  <a:cubicBezTo>
                    <a:pt x="3341941" y="0"/>
                    <a:pt x="3345808" y="1602"/>
                    <a:pt x="3348659" y="4453"/>
                  </a:cubicBezTo>
                  <a:cubicBezTo>
                    <a:pt x="3351510" y="7304"/>
                    <a:pt x="3353112" y="11171"/>
                    <a:pt x="3353112" y="15202"/>
                  </a:cubicBezTo>
                  <a:lnTo>
                    <a:pt x="3353112" y="1346788"/>
                  </a:lnTo>
                  <a:cubicBezTo>
                    <a:pt x="3353112" y="1350820"/>
                    <a:pt x="3351510" y="1354687"/>
                    <a:pt x="3348659" y="1357538"/>
                  </a:cubicBezTo>
                  <a:cubicBezTo>
                    <a:pt x="3345808" y="1360389"/>
                    <a:pt x="3341941" y="1361991"/>
                    <a:pt x="3337909" y="1361991"/>
                  </a:cubicBezTo>
                  <a:lnTo>
                    <a:pt x="15202" y="1361991"/>
                  </a:lnTo>
                  <a:cubicBezTo>
                    <a:pt x="11171" y="1361991"/>
                    <a:pt x="7304" y="1360389"/>
                    <a:pt x="4453" y="1357538"/>
                  </a:cubicBezTo>
                  <a:cubicBezTo>
                    <a:pt x="1602" y="1354687"/>
                    <a:pt x="0" y="1350820"/>
                    <a:pt x="0" y="1346788"/>
                  </a:cubicBezTo>
                  <a:lnTo>
                    <a:pt x="0" y="15202"/>
                  </a:lnTo>
                  <a:cubicBezTo>
                    <a:pt x="0" y="11171"/>
                    <a:pt x="1602" y="7304"/>
                    <a:pt x="4453" y="4453"/>
                  </a:cubicBezTo>
                  <a:cubicBezTo>
                    <a:pt x="7304" y="1602"/>
                    <a:pt x="11171" y="0"/>
                    <a:pt x="15202" y="0"/>
                  </a:cubicBezTo>
                  <a:close/>
                </a:path>
              </a:pathLst>
            </a:custGeom>
            <a:solidFill>
              <a:srgbClr val="106861"/>
            </a:solidFill>
            <a:ln cap="rnd">
              <a:noFill/>
              <a:prstDash val="solid"/>
              <a:round/>
            </a:ln>
          </p:spPr>
          <p:txBody>
            <a:bodyPr/>
            <a:lstStyle/>
            <a:p>
              <a:endParaRPr lang="en-US"/>
            </a:p>
          </p:txBody>
        </p:sp>
        <p:sp>
          <p:nvSpPr>
            <p:cNvPr id="9" name="TextBox 9"/>
            <p:cNvSpPr txBox="1"/>
            <p:nvPr/>
          </p:nvSpPr>
          <p:spPr>
            <a:xfrm>
              <a:off x="0" y="-19050"/>
              <a:ext cx="3353112" cy="1381041"/>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10" name="TextBox 10"/>
          <p:cNvSpPr txBox="1"/>
          <p:nvPr/>
        </p:nvSpPr>
        <p:spPr>
          <a:xfrm>
            <a:off x="1052293" y="3897947"/>
            <a:ext cx="7395455" cy="3536161"/>
          </a:xfrm>
          <a:prstGeom prst="rect">
            <a:avLst/>
          </a:prstGeom>
        </p:spPr>
        <p:txBody>
          <a:bodyPr wrap="square" lIns="0" tIns="0" rIns="0" bIns="0" rtlCol="0" anchor="t">
            <a:spAutoFit/>
          </a:bodyPr>
          <a:lstStyle/>
          <a:p>
            <a:pPr algn="just">
              <a:lnSpc>
                <a:spcPts val="3950"/>
              </a:lnSpc>
            </a:pPr>
            <a:r>
              <a:rPr lang="en-US" sz="2450" dirty="0">
                <a:solidFill>
                  <a:srgbClr val="FFFFFF"/>
                </a:solidFill>
                <a:latin typeface="Times New Roman" panose="02020603050405020304" pitchFamily="18" charset="0"/>
                <a:cs typeface="Times New Roman" panose="02020603050405020304" pitchFamily="18" charset="0"/>
              </a:rPr>
              <a:t>Many students struggle with understanding mathematical concepts due to a lack of clear explanations, limited practice opportunities, and insufficient feedback. Traditional learning methods often fail to track individual progress, identify weak areas, or adapt to different learning speeds. As a result, students lose confidence and perform poorly in mathematics.</a:t>
            </a:r>
          </a:p>
        </p:txBody>
      </p:sp>
      <p:sp>
        <p:nvSpPr>
          <p:cNvPr id="11" name="TextBox 11"/>
          <p:cNvSpPr txBox="1"/>
          <p:nvPr/>
        </p:nvSpPr>
        <p:spPr>
          <a:xfrm>
            <a:off x="95125" y="2143003"/>
            <a:ext cx="8237409" cy="1269002"/>
          </a:xfrm>
          <a:prstGeom prst="rect">
            <a:avLst/>
          </a:prstGeom>
        </p:spPr>
        <p:txBody>
          <a:bodyPr wrap="square" lIns="0" tIns="0" rIns="0" bIns="0" rtlCol="0" anchor="t">
            <a:spAutoFit/>
          </a:bodyPr>
          <a:lstStyle/>
          <a:p>
            <a:pPr marL="0" lvl="0" indent="0" algn="ctr">
              <a:lnSpc>
                <a:spcPts val="9582"/>
              </a:lnSpc>
              <a:spcBef>
                <a:spcPct val="0"/>
              </a:spcBef>
            </a:pPr>
            <a:r>
              <a:rPr lang="en-US" sz="6000" dirty="0">
                <a:solidFill>
                  <a:schemeClr val="bg1"/>
                </a:solidFill>
                <a:latin typeface="Times New Roman" panose="02020603050405020304" pitchFamily="18" charset="0"/>
                <a:cs typeface="Times New Roman" panose="02020603050405020304" pitchFamily="18" charset="0"/>
                <a:sym typeface="Open Sauce Bold"/>
              </a:rPr>
              <a:t>The</a:t>
            </a:r>
            <a:r>
              <a:rPr lang="en-US" sz="8800" dirty="0">
                <a:solidFill>
                  <a:schemeClr val="bg1"/>
                </a:solidFill>
                <a:latin typeface="Times New Roman" panose="02020603050405020304" pitchFamily="18" charset="0"/>
                <a:cs typeface="Times New Roman" panose="02020603050405020304" pitchFamily="18" charset="0"/>
                <a:sym typeface="Open Sauce Bold"/>
              </a:rPr>
              <a:t> </a:t>
            </a:r>
            <a:r>
              <a:rPr lang="en-US" sz="6000" dirty="0">
                <a:solidFill>
                  <a:schemeClr val="bg1"/>
                </a:solidFill>
                <a:latin typeface="Times New Roman" panose="02020603050405020304" pitchFamily="18" charset="0"/>
                <a:cs typeface="Times New Roman" panose="02020603050405020304" pitchFamily="18" charset="0"/>
                <a:sym typeface="Open Sauce Bold"/>
              </a:rPr>
              <a:t>Problem</a:t>
            </a:r>
            <a:endParaRPr lang="en-US" sz="8800" dirty="0">
              <a:solidFill>
                <a:schemeClr val="bg1"/>
              </a:solidFill>
              <a:latin typeface="Times New Roman" panose="02020603050405020304" pitchFamily="18" charset="0"/>
              <a:cs typeface="Times New Roman" panose="02020603050405020304" pitchFamily="18" charset="0"/>
              <a:sym typeface="Open Sauce Bold"/>
            </a:endParaRPr>
          </a:p>
        </p:txBody>
      </p:sp>
      <p:grpSp>
        <p:nvGrpSpPr>
          <p:cNvPr id="12" name="Group 12"/>
          <p:cNvGrpSpPr/>
          <p:nvPr/>
        </p:nvGrpSpPr>
        <p:grpSpPr>
          <a:xfrm>
            <a:off x="16113923" y="9258300"/>
            <a:ext cx="327444" cy="327444"/>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14" name="TextBox 14"/>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5" name="Group 15"/>
          <p:cNvGrpSpPr/>
          <p:nvPr/>
        </p:nvGrpSpPr>
        <p:grpSpPr>
          <a:xfrm>
            <a:off x="15648108" y="9258300"/>
            <a:ext cx="327444" cy="327444"/>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17" name="TextBox 17"/>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8" name="Group 18"/>
          <p:cNvGrpSpPr/>
          <p:nvPr/>
        </p:nvGrpSpPr>
        <p:grpSpPr>
          <a:xfrm>
            <a:off x="15161723" y="9258300"/>
            <a:ext cx="327444" cy="32744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20" name="TextBox 20"/>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21" name="TextBox 20">
            <a:extLst>
              <a:ext uri="{FF2B5EF4-FFF2-40B4-BE49-F238E27FC236}">
                <a16:creationId xmlns:a16="http://schemas.microsoft.com/office/drawing/2014/main" id="{D0ED7926-E5C6-FEB4-27B1-F904148FB8AA}"/>
              </a:ext>
            </a:extLst>
          </p:cNvPr>
          <p:cNvSpPr txBox="1"/>
          <p:nvPr/>
        </p:nvSpPr>
        <p:spPr>
          <a:xfrm>
            <a:off x="9085444" y="2382786"/>
            <a:ext cx="8257061" cy="1107996"/>
          </a:xfrm>
          <a:prstGeom prst="rect">
            <a:avLst/>
          </a:prstGeom>
          <a:noFill/>
        </p:spPr>
        <p:txBody>
          <a:bodyPr wrap="square" rtlCol="0">
            <a:spAutoFit/>
          </a:bodyPr>
          <a:lstStyle/>
          <a:p>
            <a:r>
              <a:rPr lang="en-US" sz="6000" dirty="0">
                <a:solidFill>
                  <a:schemeClr val="bg1"/>
                </a:solidFill>
                <a:latin typeface="Times New Roman" panose="02020603050405020304" pitchFamily="18" charset="0"/>
                <a:cs typeface="Times New Roman" panose="02020603050405020304" pitchFamily="18" charset="0"/>
              </a:rPr>
              <a:t>The </a:t>
            </a:r>
            <a:r>
              <a:rPr lang="en-US" sz="6600" dirty="0">
                <a:solidFill>
                  <a:schemeClr val="bg1"/>
                </a:solidFill>
                <a:latin typeface="Times New Roman" panose="02020603050405020304" pitchFamily="18" charset="0"/>
                <a:cs typeface="Times New Roman" panose="02020603050405020304" pitchFamily="18" charset="0"/>
              </a:rPr>
              <a:t>Solution</a:t>
            </a:r>
            <a:r>
              <a:rPr lang="en-US" sz="6000" dirty="0">
                <a:solidFill>
                  <a:schemeClr val="bg1"/>
                </a:solidFill>
                <a:latin typeface="Times New Roman" panose="02020603050405020304" pitchFamily="18" charset="0"/>
                <a:cs typeface="Times New Roman" panose="02020603050405020304" pitchFamily="18" charset="0"/>
              </a:rPr>
              <a:t>: “</a:t>
            </a:r>
            <a:r>
              <a:rPr lang="en-US" sz="6000" dirty="0" err="1">
                <a:solidFill>
                  <a:schemeClr val="bg1"/>
                </a:solidFill>
                <a:latin typeface="Times New Roman" panose="02020603050405020304" pitchFamily="18" charset="0"/>
                <a:cs typeface="Times New Roman" panose="02020603050405020304" pitchFamily="18" charset="0"/>
              </a:rPr>
              <a:t>Calcure</a:t>
            </a:r>
            <a:r>
              <a:rPr lang="en-US" sz="6000" dirty="0">
                <a:solidFill>
                  <a:schemeClr val="bg1"/>
                </a:solidFill>
                <a:latin typeface="Times New Roman" panose="02020603050405020304" pitchFamily="18" charset="0"/>
                <a:cs typeface="Times New Roman" panose="02020603050405020304" pitchFamily="18" charset="0"/>
              </a:rPr>
              <a:t>”</a:t>
            </a:r>
          </a:p>
        </p:txBody>
      </p:sp>
      <p:sp>
        <p:nvSpPr>
          <p:cNvPr id="22" name="TextBox 21">
            <a:extLst>
              <a:ext uri="{FF2B5EF4-FFF2-40B4-BE49-F238E27FC236}">
                <a16:creationId xmlns:a16="http://schemas.microsoft.com/office/drawing/2014/main" id="{7C07EB1D-47D2-DBFD-3875-DFC0D56FE892}"/>
              </a:ext>
            </a:extLst>
          </p:cNvPr>
          <p:cNvSpPr txBox="1"/>
          <p:nvPr/>
        </p:nvSpPr>
        <p:spPr>
          <a:xfrm>
            <a:off x="9172967" y="3962700"/>
            <a:ext cx="7985762" cy="3008516"/>
          </a:xfrm>
          <a:prstGeom prst="rect">
            <a:avLst/>
          </a:prstGeom>
          <a:noFill/>
        </p:spPr>
        <p:txBody>
          <a:bodyPr wrap="square" rtlCol="0">
            <a:spAutoFit/>
          </a:bodyPr>
          <a:lstStyle/>
          <a:p>
            <a:pPr algn="just">
              <a:buNone/>
            </a:pPr>
            <a:r>
              <a:rPr lang="en-US" sz="2450" dirty="0" err="1">
                <a:solidFill>
                  <a:schemeClr val="bg1"/>
                </a:solidFill>
                <a:latin typeface="Times New Roman" panose="02020603050405020304" pitchFamily="18" charset="0"/>
                <a:cs typeface="Times New Roman" panose="02020603050405020304" pitchFamily="18" charset="0"/>
              </a:rPr>
              <a:t>Calcure</a:t>
            </a:r>
            <a:r>
              <a:rPr lang="en-US" sz="2450" dirty="0">
                <a:solidFill>
                  <a:schemeClr val="bg1"/>
                </a:solidFill>
                <a:latin typeface="Times New Roman" panose="02020603050405020304" pitchFamily="18" charset="0"/>
                <a:cs typeface="Times New Roman" panose="02020603050405020304" pitchFamily="18" charset="0"/>
              </a:rPr>
              <a:t> is an intelligent mathematics learning platform designed to improve conceptual understanding and problem-solving skills. It provides structured lessons, interactive exercises, step-by-step solutions, and instant feedback. </a:t>
            </a:r>
            <a:r>
              <a:rPr lang="en-US" sz="2450" dirty="0" err="1">
                <a:solidFill>
                  <a:schemeClr val="bg1"/>
                </a:solidFill>
                <a:latin typeface="Times New Roman" panose="02020603050405020304" pitchFamily="18" charset="0"/>
                <a:cs typeface="Times New Roman" panose="02020603050405020304" pitchFamily="18" charset="0"/>
              </a:rPr>
              <a:t>Calcure</a:t>
            </a:r>
            <a:r>
              <a:rPr lang="en-US" sz="2450" dirty="0">
                <a:solidFill>
                  <a:schemeClr val="bg1"/>
                </a:solidFill>
                <a:latin typeface="Times New Roman" panose="02020603050405020304" pitchFamily="18" charset="0"/>
                <a:cs typeface="Times New Roman" panose="02020603050405020304" pitchFamily="18" charset="0"/>
              </a:rPr>
              <a:t> supports multiple difficulty levels and bilingual content (Bengali/English), making mathematics learning accessible, engaging, and effective for students.</a:t>
            </a:r>
          </a:p>
          <a:p>
            <a:endParaRPr lang="en-US" dirty="0"/>
          </a:p>
        </p:txBody>
      </p:sp>
      <p:cxnSp>
        <p:nvCxnSpPr>
          <p:cNvPr id="24" name="Straight Connector 23">
            <a:extLst>
              <a:ext uri="{FF2B5EF4-FFF2-40B4-BE49-F238E27FC236}">
                <a16:creationId xmlns:a16="http://schemas.microsoft.com/office/drawing/2014/main" id="{E3F1DD1F-1FC3-E42C-9482-CC8028255A71}"/>
              </a:ext>
            </a:extLst>
          </p:cNvPr>
          <p:cNvCxnSpPr>
            <a:cxnSpLocks/>
          </p:cNvCxnSpPr>
          <p:nvPr/>
        </p:nvCxnSpPr>
        <p:spPr>
          <a:xfrm>
            <a:off x="8702040" y="3490782"/>
            <a:ext cx="0" cy="4042594"/>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4" name="Rectangle 5">
            <a:extLst>
              <a:ext uri="{FF2B5EF4-FFF2-40B4-BE49-F238E27FC236}">
                <a16:creationId xmlns:a16="http://schemas.microsoft.com/office/drawing/2014/main" id="{E8E2CBD9-C666-3E3A-DE52-A5ACEFB209E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grpSp>
        <p:nvGrpSpPr>
          <p:cNvPr id="2" name="Group 2"/>
          <p:cNvGrpSpPr/>
          <p:nvPr/>
        </p:nvGrpSpPr>
        <p:grpSpPr>
          <a:xfrm>
            <a:off x="7376873" y="-216738"/>
            <a:ext cx="10911127" cy="10503738"/>
            <a:chOff x="0" y="-19050"/>
            <a:chExt cx="2645182" cy="2912875"/>
          </a:xfrm>
        </p:grpSpPr>
        <p:sp>
          <p:nvSpPr>
            <p:cNvPr id="3" name="Freeform 3"/>
            <p:cNvSpPr/>
            <p:nvPr/>
          </p:nvSpPr>
          <p:spPr>
            <a:xfrm>
              <a:off x="473782" y="39777"/>
              <a:ext cx="2171400" cy="2854048"/>
            </a:xfrm>
            <a:custGeom>
              <a:avLst/>
              <a:gdLst/>
              <a:ahLst/>
              <a:cxnLst/>
              <a:rect l="l" t="t" r="r" b="b"/>
              <a:pathLst>
                <a:path w="2171400" h="2854048">
                  <a:moveTo>
                    <a:pt x="37167" y="0"/>
                  </a:moveTo>
                  <a:lnTo>
                    <a:pt x="2134233" y="0"/>
                  </a:lnTo>
                  <a:cubicBezTo>
                    <a:pt x="2154760" y="0"/>
                    <a:pt x="2171400" y="16640"/>
                    <a:pt x="2171400" y="37167"/>
                  </a:cubicBezTo>
                  <a:lnTo>
                    <a:pt x="2171400" y="2816880"/>
                  </a:lnTo>
                  <a:cubicBezTo>
                    <a:pt x="2171400" y="2826738"/>
                    <a:pt x="2167484" y="2836192"/>
                    <a:pt x="2160514" y="2843162"/>
                  </a:cubicBezTo>
                  <a:cubicBezTo>
                    <a:pt x="2153544" y="2850132"/>
                    <a:pt x="2144090" y="2854048"/>
                    <a:pt x="2134233" y="2854048"/>
                  </a:cubicBezTo>
                  <a:lnTo>
                    <a:pt x="37167" y="2854048"/>
                  </a:lnTo>
                  <a:cubicBezTo>
                    <a:pt x="27310" y="2854048"/>
                    <a:pt x="17856" y="2850132"/>
                    <a:pt x="10886" y="2843162"/>
                  </a:cubicBezTo>
                  <a:cubicBezTo>
                    <a:pt x="3916" y="2836192"/>
                    <a:pt x="0" y="2826738"/>
                    <a:pt x="0" y="2816880"/>
                  </a:cubicBezTo>
                  <a:lnTo>
                    <a:pt x="0" y="37167"/>
                  </a:lnTo>
                  <a:cubicBezTo>
                    <a:pt x="0" y="27310"/>
                    <a:pt x="3916" y="17856"/>
                    <a:pt x="10886" y="10886"/>
                  </a:cubicBezTo>
                  <a:cubicBezTo>
                    <a:pt x="17856" y="3916"/>
                    <a:pt x="27310" y="0"/>
                    <a:pt x="37167" y="0"/>
                  </a:cubicBezTo>
                  <a:close/>
                </a:path>
              </a:pathLst>
            </a:custGeom>
            <a:solidFill>
              <a:srgbClr val="106861"/>
            </a:solidFill>
            <a:ln cap="rnd">
              <a:noFill/>
              <a:prstDash val="solid"/>
              <a:round/>
            </a:ln>
          </p:spPr>
          <p:txBody>
            <a:bodyPr/>
            <a:lstStyle/>
            <a:p>
              <a:endParaRPr lang="en-US"/>
            </a:p>
          </p:txBody>
        </p:sp>
        <p:sp>
          <p:nvSpPr>
            <p:cNvPr id="4" name="TextBox 4"/>
            <p:cNvSpPr txBox="1"/>
            <p:nvPr/>
          </p:nvSpPr>
          <p:spPr>
            <a:xfrm>
              <a:off x="0" y="-19050"/>
              <a:ext cx="2171400" cy="2873098"/>
            </a:xfrm>
            <a:prstGeom prst="rect">
              <a:avLst/>
            </a:prstGeom>
          </p:spPr>
          <p:txBody>
            <a:bodyPr lIns="50800" tIns="50800" rIns="50800" bIns="50800" rtlCol="0" anchor="ctr"/>
            <a:lstStyle/>
            <a:p>
              <a:pPr marL="0" lvl="0" indent="0" algn="ctr">
                <a:lnSpc>
                  <a:spcPts val="2859"/>
                </a:lnSpc>
                <a:spcBef>
                  <a:spcPct val="0"/>
                </a:spcBef>
              </a:pPr>
              <a:endParaRPr/>
            </a:p>
          </p:txBody>
        </p:sp>
      </p:grpSp>
      <p:pic>
        <p:nvPicPr>
          <p:cNvPr id="7" name="Picture 6">
            <a:extLst>
              <a:ext uri="{FF2B5EF4-FFF2-40B4-BE49-F238E27FC236}">
                <a16:creationId xmlns:a16="http://schemas.microsoft.com/office/drawing/2014/main" id="{43CF9B6E-65CF-DEBB-EC7E-B0203646C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199" y="-110674"/>
            <a:ext cx="10466530" cy="10397674"/>
          </a:xfrm>
          <a:prstGeom prst="rect">
            <a:avLst/>
          </a:prstGeom>
        </p:spPr>
      </p:pic>
      <p:sp>
        <p:nvSpPr>
          <p:cNvPr id="8" name="Freeform 8"/>
          <p:cNvSpPr/>
          <p:nvPr/>
        </p:nvSpPr>
        <p:spPr>
          <a:xfrm>
            <a:off x="10334905" y="5642237"/>
            <a:ext cx="2264637" cy="1659361"/>
          </a:xfrm>
          <a:custGeom>
            <a:avLst/>
            <a:gdLst/>
            <a:ahLst/>
            <a:cxnLst/>
            <a:rect l="l" t="t" r="r" b="b"/>
            <a:pathLst>
              <a:path w="2264637" h="1659361">
                <a:moveTo>
                  <a:pt x="0" y="0"/>
                </a:moveTo>
                <a:lnTo>
                  <a:pt x="2264637" y="0"/>
                </a:lnTo>
                <a:lnTo>
                  <a:pt x="2264637" y="1659362"/>
                </a:lnTo>
                <a:lnTo>
                  <a:pt x="0" y="1659362"/>
                </a:lnTo>
                <a:lnTo>
                  <a:pt x="0" y="0"/>
                </a:lnTo>
                <a:close/>
              </a:path>
            </a:pathLst>
          </a:custGeom>
          <a:blipFill>
            <a:blip r:embed="rId3">
              <a:alphaModFix amt="15000"/>
              <a:extLst>
                <a:ext uri="{96DAC541-7B7A-43D3-8B79-37D633B846F1}">
                  <asvg:svgBlip xmlns:asvg="http://schemas.microsoft.com/office/drawing/2016/SVG/main" r:embed="rId4"/>
                </a:ext>
              </a:extLst>
            </a:blip>
            <a:stretch>
              <a:fillRect/>
            </a:stretch>
          </a:blipFill>
        </p:spPr>
        <p:txBody>
          <a:bodyPr/>
          <a:lstStyle/>
          <a:p>
            <a:endParaRPr lang="en-US"/>
          </a:p>
        </p:txBody>
      </p:sp>
      <p:pic>
        <p:nvPicPr>
          <p:cNvPr id="5" name="Picture 4" descr="A pattern of math equations&#10;&#10;AI-generated content may be incorrect.">
            <a:extLst>
              <a:ext uri="{FF2B5EF4-FFF2-40B4-BE49-F238E27FC236}">
                <a16:creationId xmlns:a16="http://schemas.microsoft.com/office/drawing/2014/main" id="{7A3D3A11-E9AC-7EDB-4658-291F04A7635C}"/>
              </a:ext>
            </a:extLst>
          </p:cNvPr>
          <p:cNvPicPr>
            <a:picLocks noChangeAspect="1"/>
          </p:cNvPicPr>
          <p:nvPr/>
        </p:nvPicPr>
        <p:blipFill>
          <a:blip r:embed="rId5"/>
          <a:stretch>
            <a:fillRect/>
          </a:stretch>
        </p:blipFill>
        <p:spPr>
          <a:xfrm>
            <a:off x="9833556" y="-110674"/>
            <a:ext cx="8454444" cy="10397673"/>
          </a:xfrm>
          <a:prstGeom prst="rect">
            <a:avLst/>
          </a:prstGeom>
          <a:ln>
            <a:noFill/>
          </a:ln>
          <a:effectLst>
            <a:outerShdw blurRad="190500" algn="tl" rotWithShape="0">
              <a:srgbClr val="000000">
                <a:alpha val="70000"/>
              </a:srgbClr>
            </a:outerShdw>
          </a:effectLst>
        </p:spPr>
      </p:pic>
      <p:sp>
        <p:nvSpPr>
          <p:cNvPr id="9" name="TextBox 9"/>
          <p:cNvSpPr txBox="1"/>
          <p:nvPr/>
        </p:nvSpPr>
        <p:spPr>
          <a:xfrm>
            <a:off x="11069107" y="1546359"/>
            <a:ext cx="6484690" cy="2066015"/>
          </a:xfrm>
          <a:prstGeom prst="rect">
            <a:avLst/>
          </a:prstGeom>
        </p:spPr>
        <p:txBody>
          <a:bodyPr wrap="square" lIns="0" tIns="0" rIns="0" bIns="0" rtlCol="0" anchor="t">
            <a:spAutoFit/>
          </a:bodyPr>
          <a:lstStyle/>
          <a:p>
            <a:pPr algn="ctr"/>
            <a:r>
              <a:rPr lang="en-US" sz="8400" spc="-94" dirty="0">
                <a:solidFill>
                  <a:srgbClr val="000000"/>
                </a:solidFill>
                <a:ea typeface="+mn-lt"/>
                <a:cs typeface="+mn-lt"/>
                <a:sym typeface="Open Sauce Bold"/>
              </a:rPr>
              <a:t>Key Features!</a:t>
            </a:r>
          </a:p>
          <a:p>
            <a:pPr marL="0" lvl="0" indent="0" algn="l">
              <a:lnSpc>
                <a:spcPts val="6644"/>
              </a:lnSpc>
              <a:spcBef>
                <a:spcPct val="0"/>
              </a:spcBef>
            </a:pPr>
            <a:endParaRPr lang="en-US" sz="4700" b="1" spc="-94" dirty="0">
              <a:solidFill>
                <a:srgbClr val="191919"/>
              </a:solidFill>
              <a:latin typeface="Open Sauce Bold"/>
              <a:ea typeface="Open Sauce Bold"/>
              <a:cs typeface="Open Sauce Bold"/>
            </a:endParaRPr>
          </a:p>
        </p:txBody>
      </p:sp>
      <p:sp>
        <p:nvSpPr>
          <p:cNvPr id="11" name="TextBox 11"/>
          <p:cNvSpPr txBox="1">
            <a:spLocks/>
          </p:cNvSpPr>
          <p:nvPr/>
        </p:nvSpPr>
        <p:spPr>
          <a:xfrm>
            <a:off x="9978690" y="2963264"/>
            <a:ext cx="8164175" cy="3508653"/>
          </a:xfrm>
          <a:prstGeom prst="rect">
            <a:avLst/>
          </a:prstGeom>
          <a:solidFill>
            <a:schemeClr val="tx2">
              <a:lumMod val="40000"/>
              <a:lumOff val="60000"/>
            </a:schemeClr>
          </a:solidFill>
          <a:ln>
            <a:solidFill>
              <a:schemeClr val="accent1"/>
            </a:solidFill>
          </a:ln>
        </p:spPr>
        <p:txBody>
          <a:bodyPr wrap="square" lIns="0" tIns="0" rIns="0" bIns="0" rtlCol="0" anchor="t">
            <a:spAutoFit/>
          </a:bodyPr>
          <a:lstStyle/>
          <a:p>
            <a:pPr marL="457200" indent="-457200">
              <a:buAutoNum type="arabicPeriod"/>
            </a:pPr>
            <a:r>
              <a:rPr lang="en-US" sz="3200" spc="39" dirty="0">
                <a:solidFill>
                  <a:srgbClr val="000000"/>
                </a:solidFill>
                <a:latin typeface="Times New Roman"/>
                <a:cs typeface="Poppins"/>
                <a:sym typeface="Open Sauce"/>
              </a:rPr>
              <a:t>Step-by-step solutions to math problem</a:t>
            </a:r>
            <a:endParaRPr lang="en-US" sz="3200" dirty="0">
              <a:latin typeface="Times New Roman"/>
              <a:cs typeface="Times New Roman"/>
            </a:endParaRPr>
          </a:p>
          <a:p>
            <a:pPr marL="457200" indent="-457200">
              <a:buAutoNum type="arabicPeriod"/>
            </a:pPr>
            <a:r>
              <a:rPr lang="en-US" sz="3200" spc="39" dirty="0">
                <a:solidFill>
                  <a:srgbClr val="000000"/>
                </a:solidFill>
                <a:latin typeface="Times New Roman"/>
                <a:cs typeface="Poppins"/>
                <a:sym typeface="Open Sauce"/>
              </a:rPr>
              <a:t>Video tutorials for better understanding</a:t>
            </a:r>
            <a:endParaRPr lang="en-US" sz="3200" dirty="0">
              <a:solidFill>
                <a:srgbClr val="000000"/>
              </a:solidFill>
              <a:latin typeface="Times New Roman"/>
              <a:cs typeface="Times New Roman"/>
            </a:endParaRPr>
          </a:p>
          <a:p>
            <a:pPr marL="457200" indent="-457200">
              <a:buAutoNum type="arabicPeriod"/>
            </a:pPr>
            <a:r>
              <a:rPr lang="en-US" sz="3200" spc="39" dirty="0">
                <a:solidFill>
                  <a:srgbClr val="000000"/>
                </a:solidFill>
                <a:latin typeface="Times New Roman"/>
                <a:cs typeface="Poppins"/>
                <a:sym typeface="Open Sauce"/>
              </a:rPr>
              <a:t>Interactive visualizations: animated diagrams &amp; graphs</a:t>
            </a:r>
            <a:endParaRPr lang="en-US" sz="3200" spc="39" dirty="0">
              <a:solidFill>
                <a:srgbClr val="000000"/>
              </a:solidFill>
              <a:latin typeface="Times New Roman"/>
              <a:cs typeface="Poppins"/>
            </a:endParaRPr>
          </a:p>
          <a:p>
            <a:pPr marL="457200" indent="-457200">
              <a:buAutoNum type="arabicPeriod"/>
            </a:pPr>
            <a:r>
              <a:rPr lang="en-US" sz="3200" spc="39" dirty="0">
                <a:solidFill>
                  <a:srgbClr val="000000"/>
                </a:solidFill>
                <a:latin typeface="Times New Roman"/>
                <a:cs typeface="Poppins"/>
                <a:sym typeface="Open Sauce"/>
              </a:rPr>
              <a:t>Chapter-wise quizzes &amp; tests for progress tracking</a:t>
            </a:r>
            <a:endParaRPr lang="en-US" sz="3200" spc="39" dirty="0">
              <a:solidFill>
                <a:srgbClr val="000000"/>
              </a:solidFill>
              <a:latin typeface="Times New Roman"/>
              <a:cs typeface="Poppins"/>
            </a:endParaRPr>
          </a:p>
          <a:p>
            <a:endParaRPr lang="en-US" sz="3600" spc="39" dirty="0">
              <a:solidFill>
                <a:srgbClr val="191919"/>
              </a:solidFill>
              <a:latin typeface="Times New Roman"/>
              <a:cs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US"/>
          </a:p>
        </p:txBody>
      </p:sp>
      <p:sp>
        <p:nvSpPr>
          <p:cNvPr id="3" name="Freeform 3"/>
          <p:cNvSpPr/>
          <p:nvPr/>
        </p:nvSpPr>
        <p:spPr>
          <a:xfrm>
            <a:off x="14647458" y="4234507"/>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grpSp>
        <p:nvGrpSpPr>
          <p:cNvPr id="4" name="Group 4"/>
          <p:cNvGrpSpPr/>
          <p:nvPr/>
        </p:nvGrpSpPr>
        <p:grpSpPr>
          <a:xfrm>
            <a:off x="-3691844" y="-3348149"/>
            <a:ext cx="5578401" cy="557840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9" name="TextBox 9"/>
          <p:cNvSpPr txBox="1"/>
          <p:nvPr/>
        </p:nvSpPr>
        <p:spPr>
          <a:xfrm>
            <a:off x="1351103" y="3924345"/>
            <a:ext cx="821191" cy="868568"/>
          </a:xfrm>
          <a:prstGeom prst="rect">
            <a:avLst/>
          </a:prstGeom>
        </p:spPr>
        <p:txBody>
          <a:bodyPr lIns="50800" tIns="50800" rIns="50800" bIns="50800" rtlCol="0" anchor="ctr"/>
          <a:lstStyle/>
          <a:p>
            <a:pPr marL="0" lvl="0" indent="0" algn="ctr">
              <a:lnSpc>
                <a:spcPts val="2756"/>
              </a:lnSpc>
              <a:spcBef>
                <a:spcPct val="0"/>
              </a:spcBef>
            </a:pPr>
            <a:endParaRPr/>
          </a:p>
        </p:txBody>
      </p:sp>
      <p:grpSp>
        <p:nvGrpSpPr>
          <p:cNvPr id="10" name="Group 10"/>
          <p:cNvGrpSpPr/>
          <p:nvPr/>
        </p:nvGrpSpPr>
        <p:grpSpPr>
          <a:xfrm>
            <a:off x="6164317" y="377032"/>
            <a:ext cx="5204234" cy="1109619"/>
            <a:chOff x="0" y="0"/>
            <a:chExt cx="2258681" cy="812800"/>
          </a:xfrm>
        </p:grpSpPr>
        <p:sp>
          <p:nvSpPr>
            <p:cNvPr id="11" name="Freeform 11"/>
            <p:cNvSpPr/>
            <p:nvPr/>
          </p:nvSpPr>
          <p:spPr>
            <a:xfrm>
              <a:off x="0" y="0"/>
              <a:ext cx="2258682" cy="812800"/>
            </a:xfrm>
            <a:custGeom>
              <a:avLst/>
              <a:gdLst/>
              <a:ahLst/>
              <a:cxnLst/>
              <a:rect l="l" t="t" r="r" b="b"/>
              <a:pathLst>
                <a:path w="2258682" h="812800">
                  <a:moveTo>
                    <a:pt x="37013" y="0"/>
                  </a:moveTo>
                  <a:lnTo>
                    <a:pt x="2221669" y="0"/>
                  </a:lnTo>
                  <a:cubicBezTo>
                    <a:pt x="2231485" y="0"/>
                    <a:pt x="2240899" y="3900"/>
                    <a:pt x="2247841" y="10841"/>
                  </a:cubicBezTo>
                  <a:cubicBezTo>
                    <a:pt x="2254782" y="17782"/>
                    <a:pt x="2258682" y="27196"/>
                    <a:pt x="2258682" y="37013"/>
                  </a:cubicBezTo>
                  <a:lnTo>
                    <a:pt x="2258682" y="775787"/>
                  </a:lnTo>
                  <a:cubicBezTo>
                    <a:pt x="2258682" y="796229"/>
                    <a:pt x="2242110" y="812800"/>
                    <a:pt x="2221669" y="812800"/>
                  </a:cubicBezTo>
                  <a:lnTo>
                    <a:pt x="37013" y="812800"/>
                  </a:lnTo>
                  <a:cubicBezTo>
                    <a:pt x="27196" y="812800"/>
                    <a:pt x="17782" y="808900"/>
                    <a:pt x="10841" y="801959"/>
                  </a:cubicBezTo>
                  <a:cubicBezTo>
                    <a:pt x="3900" y="795018"/>
                    <a:pt x="0" y="785604"/>
                    <a:pt x="0" y="775787"/>
                  </a:cubicBezTo>
                  <a:lnTo>
                    <a:pt x="0" y="37013"/>
                  </a:lnTo>
                  <a:cubicBezTo>
                    <a:pt x="0" y="27196"/>
                    <a:pt x="3900" y="17782"/>
                    <a:pt x="10841" y="10841"/>
                  </a:cubicBezTo>
                  <a:cubicBezTo>
                    <a:pt x="17782" y="3900"/>
                    <a:pt x="27196" y="0"/>
                    <a:pt x="37013" y="0"/>
                  </a:cubicBezTo>
                  <a:close/>
                </a:path>
              </a:pathLst>
            </a:custGeom>
            <a:solidFill>
              <a:srgbClr val="106861"/>
            </a:solidFill>
            <a:ln w="66675" cap="rnd">
              <a:solidFill>
                <a:srgbClr val="FFFFFF"/>
              </a:solidFill>
              <a:prstDash val="solid"/>
              <a:round/>
            </a:ln>
          </p:spPr>
          <p:txBody>
            <a:bodyPr/>
            <a:lstStyle/>
            <a:p>
              <a:endParaRPr lang="en-US" sz="1600"/>
            </a:p>
          </p:txBody>
        </p:sp>
        <p:sp>
          <p:nvSpPr>
            <p:cNvPr id="12" name="TextBox 12"/>
            <p:cNvSpPr txBox="1"/>
            <p:nvPr/>
          </p:nvSpPr>
          <p:spPr>
            <a:xfrm>
              <a:off x="0" y="-28575"/>
              <a:ext cx="2258681" cy="841375"/>
            </a:xfrm>
            <a:prstGeom prst="rect">
              <a:avLst/>
            </a:prstGeom>
          </p:spPr>
          <p:txBody>
            <a:bodyPr lIns="50800" tIns="50800" rIns="50800" bIns="50800" rtlCol="0" anchor="ctr"/>
            <a:lstStyle/>
            <a:p>
              <a:pPr marL="0" lvl="0" indent="0" algn="ctr">
                <a:lnSpc>
                  <a:spcPts val="2484"/>
                </a:lnSpc>
                <a:spcBef>
                  <a:spcPct val="0"/>
                </a:spcBef>
              </a:pPr>
              <a:endParaRPr sz="1600"/>
            </a:p>
          </p:txBody>
        </p:sp>
      </p:grpSp>
      <p:sp>
        <p:nvSpPr>
          <p:cNvPr id="13" name="TextBox 13"/>
          <p:cNvSpPr txBox="1"/>
          <p:nvPr/>
        </p:nvSpPr>
        <p:spPr>
          <a:xfrm>
            <a:off x="4919155" y="-395669"/>
            <a:ext cx="7694557" cy="1766125"/>
          </a:xfrm>
          <a:prstGeom prst="rect">
            <a:avLst/>
          </a:prstGeom>
        </p:spPr>
        <p:txBody>
          <a:bodyPr lIns="0" tIns="0" rIns="0" bIns="0" rtlCol="0" anchor="t">
            <a:spAutoFit/>
          </a:bodyPr>
          <a:lstStyle/>
          <a:p>
            <a:pPr algn="ctr">
              <a:lnSpc>
                <a:spcPts val="16333"/>
              </a:lnSpc>
              <a:spcBef>
                <a:spcPct val="0"/>
              </a:spcBef>
            </a:pPr>
            <a:r>
              <a:rPr lang="en-US" sz="6600" dirty="0">
                <a:solidFill>
                  <a:srgbClr val="FFFFFF"/>
                </a:solidFill>
                <a:latin typeface="Times New Roman"/>
                <a:ea typeface="+mn-lt"/>
                <a:cs typeface="+mn-lt"/>
                <a:sym typeface="Open Sauce Bold"/>
              </a:rPr>
              <a:t>Stakeholders</a:t>
            </a:r>
            <a:endParaRPr lang="en-US" sz="8000" b="1" dirty="0">
              <a:solidFill>
                <a:srgbClr val="FFFFFF"/>
              </a:solidFill>
              <a:latin typeface="Times New Roman"/>
              <a:cs typeface="Times New Roman"/>
            </a:endParaRPr>
          </a:p>
        </p:txBody>
      </p:sp>
      <p:sp>
        <p:nvSpPr>
          <p:cNvPr id="15" name="TextBox 14">
            <a:extLst>
              <a:ext uri="{FF2B5EF4-FFF2-40B4-BE49-F238E27FC236}">
                <a16:creationId xmlns:a16="http://schemas.microsoft.com/office/drawing/2014/main" id="{4F0B184C-0B77-8A3C-4CA8-8F3A96B154C6}"/>
              </a:ext>
            </a:extLst>
          </p:cNvPr>
          <p:cNvSpPr txBox="1"/>
          <p:nvPr/>
        </p:nvSpPr>
        <p:spPr>
          <a:xfrm>
            <a:off x="924830" y="1667457"/>
            <a:ext cx="17552349" cy="79714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Wingdings" panose="05000000000000000000" pitchFamily="2" charset="2"/>
              <a:buChar char="q"/>
            </a:pPr>
            <a:r>
              <a:rPr lang="en-US" sz="3200" b="1" dirty="0">
                <a:solidFill>
                  <a:schemeClr val="bg1"/>
                </a:solidFill>
                <a:latin typeface="Times New Roman"/>
                <a:cs typeface="Segoe UI"/>
              </a:rPr>
              <a:t>Student:</a:t>
            </a:r>
          </a:p>
          <a:p>
            <a:r>
              <a:rPr lang="en-US" sz="3200" dirty="0">
                <a:solidFill>
                  <a:schemeClr val="bg1"/>
                </a:solidFill>
                <a:latin typeface="Times New Roman"/>
                <a:cs typeface="Segoe UI"/>
              </a:rPr>
              <a:t>Uses the system responsibly for learning and practice.</a:t>
            </a:r>
          </a:p>
          <a:p>
            <a:pPr marL="457200" indent="-457200">
              <a:buFont typeface="Wingdings" panose="05000000000000000000" pitchFamily="2" charset="2"/>
              <a:buChar char="q"/>
            </a:pPr>
            <a:r>
              <a:rPr lang="en-US" sz="3200" b="1" dirty="0">
                <a:solidFill>
                  <a:schemeClr val="bg1"/>
                </a:solidFill>
                <a:latin typeface="Times New Roman"/>
                <a:cs typeface="Segoe UI"/>
              </a:rPr>
              <a:t>Teacher:</a:t>
            </a:r>
          </a:p>
          <a:p>
            <a:r>
              <a:rPr lang="en-US" sz="3200" dirty="0">
                <a:solidFill>
                  <a:schemeClr val="bg1"/>
                </a:solidFill>
                <a:latin typeface="Times New Roman"/>
                <a:cs typeface="Segoe UI"/>
              </a:rPr>
              <a:t>Creates and manages accurate learning content.</a:t>
            </a:r>
          </a:p>
          <a:p>
            <a:pPr marL="457200" indent="-457200">
              <a:buFont typeface="Wingdings" panose="05000000000000000000" pitchFamily="2" charset="2"/>
              <a:buChar char="q"/>
            </a:pPr>
            <a:r>
              <a:rPr lang="en-US" sz="3200" b="1" dirty="0">
                <a:solidFill>
                  <a:schemeClr val="bg1"/>
                </a:solidFill>
                <a:latin typeface="Times New Roman"/>
                <a:cs typeface="Segoe UI"/>
              </a:rPr>
              <a:t>Moderator:</a:t>
            </a:r>
          </a:p>
          <a:p>
            <a:r>
              <a:rPr lang="en-US" sz="3200" dirty="0">
                <a:solidFill>
                  <a:schemeClr val="bg1"/>
                </a:solidFill>
                <a:latin typeface="Times New Roman"/>
                <a:cs typeface="Segoe UI"/>
              </a:rPr>
              <a:t>Ensures content quality and policy compliance.</a:t>
            </a:r>
          </a:p>
          <a:p>
            <a:pPr marL="457200" indent="-457200">
              <a:buFont typeface="Wingdings" panose="05000000000000000000" pitchFamily="2" charset="2"/>
              <a:buChar char="q"/>
            </a:pPr>
            <a:r>
              <a:rPr lang="en-US" sz="3200" b="1" dirty="0">
                <a:solidFill>
                  <a:schemeClr val="bg1"/>
                </a:solidFill>
                <a:latin typeface="Times New Roman"/>
                <a:cs typeface="Segoe UI"/>
              </a:rPr>
              <a:t>System Administrator:</a:t>
            </a:r>
          </a:p>
          <a:p>
            <a:r>
              <a:rPr lang="en-US" sz="3200" dirty="0">
                <a:solidFill>
                  <a:schemeClr val="bg1"/>
                </a:solidFill>
                <a:latin typeface="Times New Roman"/>
                <a:cs typeface="Segoe UI"/>
              </a:rPr>
              <a:t>Responsible for managing system operations, security, user roles, and overall platform stability.</a:t>
            </a:r>
          </a:p>
          <a:p>
            <a:pPr marL="457200" indent="-457200">
              <a:buFont typeface="Wingdings" panose="05000000000000000000" pitchFamily="2" charset="2"/>
              <a:buChar char="q"/>
            </a:pPr>
            <a:r>
              <a:rPr lang="en-US" sz="3200" b="1" dirty="0">
                <a:solidFill>
                  <a:schemeClr val="bg1"/>
                </a:solidFill>
                <a:latin typeface="Times New Roman"/>
                <a:cs typeface="Segoe UI"/>
              </a:rPr>
              <a:t>Job Seeker:</a:t>
            </a:r>
          </a:p>
          <a:p>
            <a:r>
              <a:rPr lang="en-US" sz="3200" dirty="0">
                <a:solidFill>
                  <a:schemeClr val="bg1"/>
                </a:solidFill>
                <a:latin typeface="Times New Roman"/>
                <a:cs typeface="Segoe UI"/>
              </a:rPr>
              <a:t>Applies for roles with valid information.</a:t>
            </a:r>
          </a:p>
          <a:p>
            <a:pPr marL="457200" indent="-457200">
              <a:buFont typeface="Wingdings" panose="05000000000000000000" pitchFamily="2" charset="2"/>
              <a:buChar char="q"/>
            </a:pPr>
            <a:r>
              <a:rPr lang="en-US" sz="3200" b="1" dirty="0">
                <a:solidFill>
                  <a:schemeClr val="bg1"/>
                </a:solidFill>
                <a:latin typeface="Times New Roman"/>
                <a:cs typeface="Segoe UI"/>
              </a:rPr>
              <a:t>Guardian:</a:t>
            </a:r>
          </a:p>
          <a:p>
            <a:r>
              <a:rPr lang="en-US" sz="3200" dirty="0">
                <a:solidFill>
                  <a:schemeClr val="bg1"/>
                </a:solidFill>
                <a:latin typeface="Times New Roman"/>
                <a:cs typeface="Segoe UI"/>
              </a:rPr>
              <a:t>Responsible for monitoring student progress and supporting consistent learning behavior.</a:t>
            </a:r>
          </a:p>
          <a:p>
            <a:pPr marL="457200" indent="-457200">
              <a:buFont typeface="Wingdings" panose="05000000000000000000" pitchFamily="2" charset="2"/>
              <a:buChar char="q"/>
            </a:pPr>
            <a:r>
              <a:rPr lang="en-US" sz="3200" b="1" dirty="0">
                <a:solidFill>
                  <a:schemeClr val="bg1"/>
                </a:solidFill>
                <a:latin typeface="Times New Roman"/>
                <a:cs typeface="Segoe UI"/>
              </a:rPr>
              <a:t>Educational Partner Platform:</a:t>
            </a:r>
          </a:p>
          <a:p>
            <a:r>
              <a:rPr lang="en-US" sz="3200" dirty="0">
                <a:solidFill>
                  <a:schemeClr val="bg1"/>
                </a:solidFill>
                <a:latin typeface="Times New Roman"/>
                <a:cs typeface="Segoe UI"/>
              </a:rPr>
              <a:t>Provides verified educational resources.</a:t>
            </a:r>
          </a:p>
          <a:p>
            <a:pPr marL="457200" indent="-457200">
              <a:buFont typeface="Wingdings" panose="05000000000000000000" pitchFamily="2" charset="2"/>
              <a:buChar char="q"/>
            </a:pPr>
            <a:r>
              <a:rPr lang="en-US" sz="3200" b="1" dirty="0">
                <a:solidFill>
                  <a:schemeClr val="bg1"/>
                </a:solidFill>
                <a:latin typeface="Times New Roman"/>
                <a:cs typeface="Segoe UI"/>
              </a:rPr>
              <a:t>Project Owner :</a:t>
            </a:r>
          </a:p>
          <a:p>
            <a:r>
              <a:rPr lang="en-US" sz="3200" dirty="0">
                <a:solidFill>
                  <a:schemeClr val="bg1"/>
                </a:solidFill>
                <a:latin typeface="Times New Roman"/>
                <a:cs typeface="Segoe UI"/>
              </a:rPr>
              <a:t>Responsible for providing strategic oversight and approving major system decisions and enhancements</a:t>
            </a:r>
            <a:r>
              <a:rPr lang="en-US" sz="3000" dirty="0">
                <a:solidFill>
                  <a:schemeClr val="bg1"/>
                </a:solidFill>
                <a:latin typeface="Times New Roman"/>
                <a:cs typeface="Segoe UI"/>
              </a:rPr>
              <a:t>.</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61697" y="462286"/>
            <a:ext cx="13236542" cy="2123658"/>
          </a:xfrm>
          <a:prstGeom prst="rect">
            <a:avLst/>
          </a:prstGeom>
        </p:spPr>
        <p:txBody>
          <a:bodyPr wrap="square" lIns="0" tIns="0" rIns="0" bIns="0" rtlCol="0" anchor="t">
            <a:spAutoFit/>
          </a:bodyPr>
          <a:lstStyle/>
          <a:p>
            <a:pPr algn="ctr"/>
            <a:r>
              <a:rPr lang="en-US" sz="6600" spc="-93" dirty="0">
                <a:latin typeface="Times New Roman"/>
                <a:ea typeface="+mn-lt"/>
                <a:cs typeface="Times New Roman"/>
                <a:sym typeface="Open Sauce Bold"/>
              </a:rPr>
              <a:t>Requirement Elicitation Techniques</a:t>
            </a:r>
            <a:endParaRPr lang="en-US" sz="6600" spc="-93" dirty="0">
              <a:latin typeface="Times New Roman"/>
              <a:ea typeface="+mn-lt"/>
              <a:cs typeface="Times New Roman"/>
            </a:endParaRPr>
          </a:p>
          <a:p>
            <a:pPr marL="0" lvl="0" indent="0" algn="ctr"/>
            <a:endParaRPr lang="en-US" sz="7200" spc="-93" dirty="0">
              <a:solidFill>
                <a:srgbClr val="000000"/>
              </a:solidFill>
              <a:latin typeface="Calibri"/>
              <a:ea typeface="Calibri"/>
              <a:cs typeface="Calibri"/>
            </a:endParaRPr>
          </a:p>
        </p:txBody>
      </p:sp>
      <p:grpSp>
        <p:nvGrpSpPr>
          <p:cNvPr id="4" name="Group 4"/>
          <p:cNvGrpSpPr/>
          <p:nvPr/>
        </p:nvGrpSpPr>
        <p:grpSpPr>
          <a:xfrm>
            <a:off x="-2093729" y="7462003"/>
            <a:ext cx="5578401" cy="5578401"/>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p:cNvGrpSpPr/>
          <p:nvPr/>
        </p:nvGrpSpPr>
        <p:grpSpPr>
          <a:xfrm>
            <a:off x="931316" y="9130847"/>
            <a:ext cx="452472" cy="45247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p:cNvGrpSpPr/>
          <p:nvPr/>
        </p:nvGrpSpPr>
        <p:grpSpPr>
          <a:xfrm>
            <a:off x="15017929" y="-2533783"/>
            <a:ext cx="5002094" cy="500209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p:cNvGrpSpPr/>
          <p:nvPr/>
        </p:nvGrpSpPr>
        <p:grpSpPr>
          <a:xfrm>
            <a:off x="4809335" y="8388753"/>
            <a:ext cx="1183417" cy="1183417"/>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aphicFrame>
        <p:nvGraphicFramePr>
          <p:cNvPr id="16" name="Table 15">
            <a:extLst>
              <a:ext uri="{FF2B5EF4-FFF2-40B4-BE49-F238E27FC236}">
                <a16:creationId xmlns:a16="http://schemas.microsoft.com/office/drawing/2014/main" id="{0D224548-EB25-711B-055E-FBEFC6CD9480}"/>
              </a:ext>
            </a:extLst>
          </p:cNvPr>
          <p:cNvGraphicFramePr>
            <a:graphicFrameLocks noGrp="1"/>
          </p:cNvGraphicFramePr>
          <p:nvPr>
            <p:extLst>
              <p:ext uri="{D42A27DB-BD31-4B8C-83A1-F6EECF244321}">
                <p14:modId xmlns:p14="http://schemas.microsoft.com/office/powerpoint/2010/main" val="1230231772"/>
              </p:ext>
            </p:extLst>
          </p:nvPr>
        </p:nvGraphicFramePr>
        <p:xfrm>
          <a:off x="0" y="1999365"/>
          <a:ext cx="18287997" cy="8682115"/>
        </p:xfrm>
        <a:graphic>
          <a:graphicData uri="http://schemas.openxmlformats.org/drawingml/2006/table">
            <a:tbl>
              <a:tblPr firstRow="1" bandRow="1">
                <a:tableStyleId>{5C22544A-7EE6-4342-B048-85BDC9FD1C3A}</a:tableStyleId>
              </a:tblPr>
              <a:tblGrid>
                <a:gridCol w="2612571">
                  <a:extLst>
                    <a:ext uri="{9D8B030D-6E8A-4147-A177-3AD203B41FA5}">
                      <a16:colId xmlns:a16="http://schemas.microsoft.com/office/drawing/2014/main" val="1074806564"/>
                    </a:ext>
                  </a:extLst>
                </a:gridCol>
                <a:gridCol w="2612571">
                  <a:extLst>
                    <a:ext uri="{9D8B030D-6E8A-4147-A177-3AD203B41FA5}">
                      <a16:colId xmlns:a16="http://schemas.microsoft.com/office/drawing/2014/main" val="511301261"/>
                    </a:ext>
                  </a:extLst>
                </a:gridCol>
                <a:gridCol w="2612571">
                  <a:extLst>
                    <a:ext uri="{9D8B030D-6E8A-4147-A177-3AD203B41FA5}">
                      <a16:colId xmlns:a16="http://schemas.microsoft.com/office/drawing/2014/main" val="1798489142"/>
                    </a:ext>
                  </a:extLst>
                </a:gridCol>
                <a:gridCol w="2612571">
                  <a:extLst>
                    <a:ext uri="{9D8B030D-6E8A-4147-A177-3AD203B41FA5}">
                      <a16:colId xmlns:a16="http://schemas.microsoft.com/office/drawing/2014/main" val="179063426"/>
                    </a:ext>
                  </a:extLst>
                </a:gridCol>
                <a:gridCol w="2612571">
                  <a:extLst>
                    <a:ext uri="{9D8B030D-6E8A-4147-A177-3AD203B41FA5}">
                      <a16:colId xmlns:a16="http://schemas.microsoft.com/office/drawing/2014/main" val="3649671781"/>
                    </a:ext>
                  </a:extLst>
                </a:gridCol>
                <a:gridCol w="2612571">
                  <a:extLst>
                    <a:ext uri="{9D8B030D-6E8A-4147-A177-3AD203B41FA5}">
                      <a16:colId xmlns:a16="http://schemas.microsoft.com/office/drawing/2014/main" val="2553858985"/>
                    </a:ext>
                  </a:extLst>
                </a:gridCol>
                <a:gridCol w="2612571">
                  <a:extLst>
                    <a:ext uri="{9D8B030D-6E8A-4147-A177-3AD203B41FA5}">
                      <a16:colId xmlns:a16="http://schemas.microsoft.com/office/drawing/2014/main" val="2021955684"/>
                    </a:ext>
                  </a:extLst>
                </a:gridCol>
              </a:tblGrid>
              <a:tr h="893759">
                <a:tc>
                  <a:txBody>
                    <a:bodyPr/>
                    <a:lstStyle/>
                    <a:p>
                      <a:pPr algn="ctr"/>
                      <a:r>
                        <a:rPr lang="en-US" sz="2400" dirty="0"/>
                        <a:t>Techniques</a:t>
                      </a:r>
                    </a:p>
                  </a:txBody>
                  <a:tcPr/>
                </a:tc>
                <a:tc>
                  <a:txBody>
                    <a:bodyPr/>
                    <a:lstStyle/>
                    <a:p>
                      <a:pPr algn="ctr"/>
                      <a:r>
                        <a:rPr lang="en-US" sz="2400" dirty="0"/>
                        <a:t>Primary Student</a:t>
                      </a:r>
                    </a:p>
                  </a:txBody>
                  <a:tcPr/>
                </a:tc>
                <a:tc>
                  <a:txBody>
                    <a:bodyPr/>
                    <a:lstStyle/>
                    <a:p>
                      <a:pPr algn="ctr"/>
                      <a:r>
                        <a:rPr lang="en-US" sz="2400" dirty="0"/>
                        <a:t>Primary Teacher</a:t>
                      </a:r>
                    </a:p>
                  </a:txBody>
                  <a:tcPr/>
                </a:tc>
                <a:tc>
                  <a:txBody>
                    <a:bodyPr/>
                    <a:lstStyle/>
                    <a:p>
                      <a:pPr algn="ctr"/>
                      <a:r>
                        <a:rPr lang="en-US" sz="2400" dirty="0"/>
                        <a:t>Secondary Student</a:t>
                      </a:r>
                    </a:p>
                  </a:txBody>
                  <a:tcPr/>
                </a:tc>
                <a:tc>
                  <a:txBody>
                    <a:bodyPr/>
                    <a:lstStyle/>
                    <a:p>
                      <a:pPr algn="ctr"/>
                      <a:r>
                        <a:rPr lang="en-US" sz="2400" dirty="0"/>
                        <a:t>Secondary Teacher</a:t>
                      </a:r>
                    </a:p>
                  </a:txBody>
                  <a:tcPr/>
                </a:tc>
                <a:tc>
                  <a:txBody>
                    <a:bodyPr/>
                    <a:lstStyle/>
                    <a:p>
                      <a:pPr algn="ctr"/>
                      <a:r>
                        <a:rPr lang="en-US" sz="2400" dirty="0"/>
                        <a:t>Higher-Secondary Student</a:t>
                      </a:r>
                    </a:p>
                  </a:txBody>
                  <a:tcPr/>
                </a:tc>
                <a:tc>
                  <a:txBody>
                    <a:bodyPr/>
                    <a:lstStyle/>
                    <a:p>
                      <a:pPr lvl="0" algn="ctr">
                        <a:buNone/>
                      </a:pPr>
                      <a:r>
                        <a:rPr lang="en-US" sz="2400" err="1"/>
                        <a:t>HIgher</a:t>
                      </a:r>
                      <a:r>
                        <a:rPr lang="en-US" sz="2400" dirty="0"/>
                        <a:t>-Secondary Teacher</a:t>
                      </a:r>
                    </a:p>
                  </a:txBody>
                  <a:tcPr/>
                </a:tc>
                <a:extLst>
                  <a:ext uri="{0D108BD9-81ED-4DB2-BD59-A6C34878D82A}">
                    <a16:rowId xmlns:a16="http://schemas.microsoft.com/office/drawing/2014/main" val="2514426249"/>
                  </a:ext>
                </a:extLst>
              </a:tr>
              <a:tr h="129098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t>Interview</a:t>
                      </a:r>
                    </a:p>
                    <a:p>
                      <a:pPr algn="ctr"/>
                      <a:endParaRPr lang="en-US" sz="2400" dirty="0"/>
                    </a:p>
                  </a:txBody>
                  <a:tcPr/>
                </a:tc>
                <a:tc>
                  <a:txBody>
                    <a:bodyPr/>
                    <a:lstStyle/>
                    <a:p>
                      <a:pPr marL="0" marR="0" lvl="0" indent="0" algn="ctr" eaLnBrk="1" fontAlgn="auto" latinLnBrk="0" hangingPunct="1">
                        <a:lnSpc>
                          <a:spcPct val="100000"/>
                        </a:lnSpc>
                        <a:spcBef>
                          <a:spcPts val="0"/>
                        </a:spcBef>
                        <a:spcAft>
                          <a:spcPts val="0"/>
                        </a:spcAft>
                        <a:buClrTx/>
                        <a:buSzTx/>
                        <a:buFontTx/>
                        <a:buNone/>
                      </a:pPr>
                      <a:r>
                        <a:rPr lang="en-US" sz="2400" b="0" i="0" u="none" strike="noStrike" noProof="0" dirty="0">
                          <a:solidFill>
                            <a:schemeClr val="dk1"/>
                          </a:solidFill>
                          <a:latin typeface="Calibri"/>
                        </a:rPr>
                        <a:t>❌</a:t>
                      </a:r>
                      <a:endParaRPr lang="en-US"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mn-lt"/>
                          <a:ea typeface="+mn-ea"/>
                          <a:cs typeface="+mn-cs"/>
                        </a:rPr>
                        <a:t>✓</a:t>
                      </a:r>
                    </a:p>
                    <a:p>
                      <a:pPr marL="0" marR="0" lvl="0" indent="0" algn="ctr" defTabSz="914400">
                        <a:lnSpc>
                          <a:spcPct val="100000"/>
                        </a:lnSpc>
                        <a:spcBef>
                          <a:spcPts val="0"/>
                        </a:spcBef>
                        <a:spcAft>
                          <a:spcPts val="0"/>
                        </a:spcAft>
                        <a:buNone/>
                        <a:tabLst/>
                        <a:defRPr/>
                      </a:pP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None/>
                        <a:tabLst/>
                        <a:defRPr/>
                      </a:pPr>
                      <a:endParaRPr lang="en-US" sz="2400" dirty="0"/>
                    </a:p>
                  </a:txBody>
                  <a:tcPr/>
                </a:tc>
                <a:extLst>
                  <a:ext uri="{0D108BD9-81ED-4DB2-BD59-A6C34878D82A}">
                    <a16:rowId xmlns:a16="http://schemas.microsoft.com/office/drawing/2014/main" val="961034728"/>
                  </a:ext>
                </a:extLst>
              </a:tr>
              <a:tr h="93620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t>Workshops</a:t>
                      </a:r>
                    </a:p>
                  </a:txBody>
                  <a:tcPr/>
                </a:tc>
                <a:tc>
                  <a:txBody>
                    <a:bodyPr/>
                    <a:lstStyle/>
                    <a:p>
                      <a:pPr marL="0" marR="0" lvl="0" indent="0" algn="ctr" defTabSz="914400">
                        <a:lnSpc>
                          <a:spcPct val="100000"/>
                        </a:lnSpc>
                        <a:spcBef>
                          <a:spcPts val="0"/>
                        </a:spcBef>
                        <a:spcAft>
                          <a:spcPts val="0"/>
                        </a:spcAft>
                        <a:buNone/>
                        <a:tabLst/>
                        <a:defRPr/>
                      </a:pPr>
                      <a:r>
                        <a:rPr lang="en-US" sz="2400" b="0" i="0" u="none" strike="noStrike" kern="1200" noProof="0" dirty="0">
                          <a:solidFill>
                            <a:schemeClr val="dk1"/>
                          </a:solidFill>
                          <a:effectLst/>
                          <a:latin typeface="Calibri"/>
                        </a:rPr>
                        <a:t>✓</a:t>
                      </a:r>
                      <a:endParaRPr lang="en-US" sz="2400" dirty="0"/>
                    </a:p>
                  </a:txBody>
                  <a:tcPr/>
                </a:tc>
                <a:tc>
                  <a:txBody>
                    <a:bodyPr/>
                    <a:lstStyle/>
                    <a:p>
                      <a:pPr marL="0" marR="0" lvl="0" indent="0" algn="ctr" defTabSz="914400">
                        <a:lnSpc>
                          <a:spcPct val="100000"/>
                        </a:lnSpc>
                        <a:spcBef>
                          <a:spcPts val="0"/>
                        </a:spcBef>
                        <a:spcAft>
                          <a:spcPts val="0"/>
                        </a:spcAft>
                        <a:buNone/>
                        <a:tabLst/>
                        <a:defRPr/>
                      </a:pPr>
                      <a:r>
                        <a:rPr lang="en-US" sz="2400" b="0" i="0" u="none" strike="noStrike" kern="1200" noProof="0" dirty="0">
                          <a:solidFill>
                            <a:schemeClr val="dk1"/>
                          </a:solidFill>
                          <a:effectLst/>
                          <a:latin typeface="Calibri"/>
                        </a:rPr>
                        <a:t>✓</a:t>
                      </a:r>
                      <a:endParaRPr lang="en-US" sz="2400" dirty="0"/>
                    </a:p>
                  </a:txBody>
                  <a:tcPr/>
                </a:tc>
                <a:tc>
                  <a:txBody>
                    <a:bodyPr/>
                    <a:lstStyle/>
                    <a:p>
                      <a:pPr marL="0" marR="0" lvl="0" indent="0" algn="ctr" defTabSz="914400">
                        <a:lnSpc>
                          <a:spcPct val="100000"/>
                        </a:lnSpc>
                        <a:spcBef>
                          <a:spcPts val="0"/>
                        </a:spcBef>
                        <a:spcAft>
                          <a:spcPts val="0"/>
                        </a:spcAft>
                        <a:buNone/>
                        <a:tabLst/>
                        <a:defRPr/>
                      </a:pPr>
                      <a:r>
                        <a:rPr lang="en-US" sz="2400" b="0" i="0" u="none" strike="noStrike" kern="1200" noProof="0" dirty="0">
                          <a:solidFill>
                            <a:schemeClr val="dk1"/>
                          </a:solidFill>
                          <a:effectLst/>
                          <a:latin typeface="Calibri"/>
                        </a:rPr>
                        <a:t>✓</a:t>
                      </a:r>
                      <a:endParaRPr lang="en-US" sz="2400" dirty="0"/>
                    </a:p>
                  </a:txBody>
                  <a:tcPr/>
                </a:tc>
                <a:tc>
                  <a:txBody>
                    <a:bodyPr/>
                    <a:lstStyle/>
                    <a:p>
                      <a:pPr marL="0" marR="0" lvl="0" indent="0" algn="ctr" defTabSz="914400">
                        <a:lnSpc>
                          <a:spcPct val="100000"/>
                        </a:lnSpc>
                        <a:spcBef>
                          <a:spcPts val="0"/>
                        </a:spcBef>
                        <a:spcAft>
                          <a:spcPts val="0"/>
                        </a:spcAft>
                        <a:buNone/>
                        <a:tabLst/>
                        <a:defRPr/>
                      </a:pPr>
                      <a:r>
                        <a:rPr lang="en-US" sz="2400" b="0" i="0" u="none" strike="noStrike" kern="1200" noProof="0" dirty="0">
                          <a:solidFill>
                            <a:schemeClr val="dk1"/>
                          </a:solidFill>
                          <a:effectLst/>
                          <a:latin typeface="Calibri"/>
                        </a:rPr>
                        <a:t>✓</a:t>
                      </a: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txBody>
                  <a:tcPr/>
                </a:tc>
                <a:extLst>
                  <a:ext uri="{0D108BD9-81ED-4DB2-BD59-A6C34878D82A}">
                    <a16:rowId xmlns:a16="http://schemas.microsoft.com/office/drawing/2014/main" val="3681156590"/>
                  </a:ext>
                </a:extLst>
              </a:tr>
              <a:tr h="1688212">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t>Focus Group</a:t>
                      </a:r>
                    </a:p>
                    <a:p>
                      <a:pPr algn="ctr"/>
                      <a:endParaRPr lang="en-US" sz="2400" dirty="0"/>
                    </a:p>
                  </a:txBody>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2400" b="0" i="0" kern="1200" dirty="0">
                        <a:solidFill>
                          <a:schemeClr val="dk1"/>
                        </a:solidFill>
                        <a:effectLst/>
                        <a:latin typeface="+mn-lt"/>
                        <a:ea typeface="+mn-ea"/>
                        <a:cs typeface="+mn-cs"/>
                      </a:endParaRPr>
                    </a:p>
                    <a:p>
                      <a:pPr marL="0" marR="0" lvl="0" indent="0" algn="ctr" defTabSz="914400">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2400" b="0" i="0" kern="1200" dirty="0">
                        <a:solidFill>
                          <a:schemeClr val="dk1"/>
                        </a:solidFill>
                        <a:effectLst/>
                        <a:latin typeface="+mn-lt"/>
                        <a:ea typeface="+mn-ea"/>
                        <a:cs typeface="+mn-cs"/>
                      </a:endParaRPr>
                    </a:p>
                    <a:p>
                      <a:pPr marL="0" marR="0" lvl="0" indent="0" algn="ctr" defTabSz="914400">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2400" b="0" i="0" kern="1200" dirty="0">
                        <a:solidFill>
                          <a:schemeClr val="dk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ClrTx/>
                        <a:buSzTx/>
                        <a:buFontTx/>
                        <a:buNone/>
                        <a:tabLst/>
                        <a:defRPr/>
                      </a:pPr>
                      <a:endParaRPr lang="en-US" sz="2400" dirty="0"/>
                    </a:p>
                    <a:p>
                      <a:pPr algn="ctr"/>
                      <a:endParaRPr lang="en-US" sz="2400" dirty="0"/>
                    </a:p>
                  </a:txBody>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2400" b="0" i="0" kern="1200" dirty="0">
                        <a:solidFill>
                          <a:schemeClr val="dk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ClrTx/>
                        <a:buSzTx/>
                        <a:buFontTx/>
                        <a:buNone/>
                        <a:tabLst/>
                        <a:defRPr/>
                      </a:pPr>
                      <a:endParaRPr lang="en-US" sz="2400" dirty="0"/>
                    </a:p>
                    <a:p>
                      <a:pPr algn="ctr"/>
                      <a:endParaRPr lang="en-US" sz="2400" dirty="0"/>
                    </a:p>
                  </a:txBody>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2400" b="0" i="0" kern="1200" dirty="0">
                        <a:solidFill>
                          <a:schemeClr val="dk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ClrTx/>
                        <a:buSzTx/>
                        <a:buFontTx/>
                        <a:buNone/>
                        <a:tabLst/>
                        <a:defRPr/>
                      </a:pPr>
                      <a:endParaRPr lang="en-US" sz="2400" dirty="0"/>
                    </a:p>
                    <a:p>
                      <a:pPr algn="ctr"/>
                      <a:endParaRPr lang="en-US" sz="2400" dirty="0"/>
                    </a:p>
                  </a:txBody>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2400" b="0" i="0" kern="1200" dirty="0">
                        <a:solidFill>
                          <a:schemeClr val="dk1"/>
                        </a:solidFill>
                        <a:effectLst/>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ClrTx/>
                        <a:buSzTx/>
                        <a:buFontTx/>
                        <a:buNone/>
                        <a:tabLst/>
                        <a:defRPr/>
                      </a:pPr>
                      <a:endParaRPr lang="en-US" sz="2400" dirty="0"/>
                    </a:p>
                    <a:p>
                      <a:pPr algn="ctr"/>
                      <a:endParaRPr lang="en-US" sz="2400" dirty="0"/>
                    </a:p>
                  </a:txBody>
                  <a:tcPr/>
                </a:tc>
                <a:extLst>
                  <a:ext uri="{0D108BD9-81ED-4DB2-BD59-A6C34878D82A}">
                    <a16:rowId xmlns:a16="http://schemas.microsoft.com/office/drawing/2014/main" val="2137062944"/>
                  </a:ext>
                </a:extLst>
              </a:tr>
              <a:tr h="129098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t>Observations</a:t>
                      </a:r>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None/>
                        <a:tabLst/>
                        <a:defRPr/>
                      </a:pP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None/>
                        <a:tabLst/>
                        <a:defRPr/>
                      </a:pPr>
                      <a:endParaRPr lang="en-US" sz="2400" dirty="0"/>
                    </a:p>
                    <a:p>
                      <a:pPr algn="ctr"/>
                      <a:endParaRPr lang="en-US" sz="2400" dirty="0"/>
                    </a:p>
                  </a:txBody>
                  <a:tcPr/>
                </a:tc>
                <a:extLst>
                  <a:ext uri="{0D108BD9-81ED-4DB2-BD59-A6C34878D82A}">
                    <a16:rowId xmlns:a16="http://schemas.microsoft.com/office/drawing/2014/main" val="328404597"/>
                  </a:ext>
                </a:extLst>
              </a:tr>
              <a:tr h="129098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t>Questionaries</a:t>
                      </a:r>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None/>
                        <a:tabLst/>
                        <a:defRPr/>
                      </a:pP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a:lnSpc>
                          <a:spcPct val="100000"/>
                        </a:lnSpc>
                        <a:spcBef>
                          <a:spcPts val="0"/>
                        </a:spcBef>
                        <a:spcAft>
                          <a:spcPts val="0"/>
                        </a:spcAft>
                        <a:buNone/>
                        <a:tabLst/>
                        <a:defRPr/>
                      </a:pPr>
                      <a:endParaRPr lang="en-US" sz="2400" dirty="0"/>
                    </a:p>
                    <a:p>
                      <a:pPr algn="ctr"/>
                      <a:endParaRPr lang="en-US" sz="2400" dirty="0"/>
                    </a:p>
                  </a:txBody>
                  <a:tcPr/>
                </a:tc>
                <a:extLst>
                  <a:ext uri="{0D108BD9-81ED-4DB2-BD59-A6C34878D82A}">
                    <a16:rowId xmlns:a16="http://schemas.microsoft.com/office/drawing/2014/main" val="2408884184"/>
                  </a:ext>
                </a:extLst>
              </a:tr>
              <a:tr h="129098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dirty="0"/>
                        <a:t>User Interface Analysis</a:t>
                      </a:r>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p>
                      <a:pPr algn="ct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i="0" kern="1200" dirty="0">
                          <a:solidFill>
                            <a:schemeClr val="dk1"/>
                          </a:solidFill>
                          <a:effectLst/>
                          <a:latin typeface="+mn-lt"/>
                          <a:ea typeface="+mn-ea"/>
                          <a:cs typeface="+mn-cs"/>
                        </a:rPr>
                        <a:t>✓</a:t>
                      </a:r>
                      <a:endParaRPr lang="en-US" sz="240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dirty="0"/>
                    </a:p>
                    <a:p>
                      <a:pPr algn="ctr"/>
                      <a:endParaRPr lang="en-US" sz="2400" dirty="0"/>
                    </a:p>
                  </a:txBody>
                  <a:tcPr/>
                </a:tc>
                <a:extLst>
                  <a:ext uri="{0D108BD9-81ED-4DB2-BD59-A6C34878D82A}">
                    <a16:rowId xmlns:a16="http://schemas.microsoft.com/office/drawing/2014/main" val="258131714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4276" y="-9497"/>
            <a:ext cx="18602276" cy="10287581"/>
            <a:chOff x="0" y="0"/>
            <a:chExt cx="4899365" cy="1687657"/>
          </a:xfrm>
        </p:grpSpPr>
        <p:sp>
          <p:nvSpPr>
            <p:cNvPr id="3" name="Freeform 3"/>
            <p:cNvSpPr/>
            <p:nvPr/>
          </p:nvSpPr>
          <p:spPr>
            <a:xfrm>
              <a:off x="0" y="0"/>
              <a:ext cx="4899365" cy="1687657"/>
            </a:xfrm>
            <a:custGeom>
              <a:avLst/>
              <a:gdLst/>
              <a:ahLst/>
              <a:cxnLst/>
              <a:rect l="l" t="t" r="r" b="b"/>
              <a:pathLst>
                <a:path w="4899365" h="1687657">
                  <a:moveTo>
                    <a:pt x="0" y="0"/>
                  </a:moveTo>
                  <a:lnTo>
                    <a:pt x="4899365" y="0"/>
                  </a:lnTo>
                  <a:lnTo>
                    <a:pt x="4899365" y="1687657"/>
                  </a:lnTo>
                  <a:lnTo>
                    <a:pt x="0" y="1687657"/>
                  </a:lnTo>
                  <a:close/>
                </a:path>
              </a:pathLst>
            </a:custGeom>
            <a:solidFill>
              <a:srgbClr val="106861"/>
            </a:solidFill>
            <a:ln cap="sq">
              <a:noFill/>
              <a:prstDash val="solid"/>
              <a:miter/>
            </a:ln>
          </p:spPr>
          <p:txBody>
            <a:bodyPr/>
            <a:lstStyle/>
            <a:p>
              <a:endParaRPr lang="en-US" dirty="0"/>
            </a:p>
          </p:txBody>
        </p:sp>
        <p:sp>
          <p:nvSpPr>
            <p:cNvPr id="4" name="TextBox 4"/>
            <p:cNvSpPr txBox="1"/>
            <p:nvPr/>
          </p:nvSpPr>
          <p:spPr>
            <a:xfrm>
              <a:off x="0" y="-38100"/>
              <a:ext cx="4899365" cy="1725757"/>
            </a:xfrm>
            <a:prstGeom prst="rect">
              <a:avLst/>
            </a:prstGeom>
          </p:spPr>
          <p:txBody>
            <a:bodyPr lIns="50800" tIns="50800" rIns="50800" bIns="50800" rtlCol="0" anchor="ctr"/>
            <a:lstStyle/>
            <a:p>
              <a:pPr marL="0" lvl="0" indent="0" algn="ctr">
                <a:lnSpc>
                  <a:spcPts val="3035"/>
                </a:lnSpc>
                <a:spcBef>
                  <a:spcPct val="0"/>
                </a:spcBef>
              </a:pPr>
              <a:endParaRPr/>
            </a:p>
          </p:txBody>
        </p:sp>
      </p:grpSp>
      <p:grpSp>
        <p:nvGrpSpPr>
          <p:cNvPr id="5" name="Group 5"/>
          <p:cNvGrpSpPr/>
          <p:nvPr/>
        </p:nvGrpSpPr>
        <p:grpSpPr>
          <a:xfrm>
            <a:off x="-2667279" y="3636569"/>
            <a:ext cx="5578401" cy="557840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FDFBFB">
                  <a:alpha val="29804"/>
                </a:srgbClr>
              </a:solidFill>
              <a:prstDash val="solid"/>
              <a:miter/>
            </a:ln>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9" name="Group 49"/>
          <p:cNvGrpSpPr/>
          <p:nvPr/>
        </p:nvGrpSpPr>
        <p:grpSpPr>
          <a:xfrm>
            <a:off x="14965085" y="-4311957"/>
            <a:ext cx="5578401" cy="5578401"/>
            <a:chOff x="16080" y="-76200"/>
            <a:chExt cx="812800" cy="812800"/>
          </a:xfrm>
        </p:grpSpPr>
        <p:sp>
          <p:nvSpPr>
            <p:cNvPr id="50" name="Freeform 50"/>
            <p:cNvSpPr/>
            <p:nvPr/>
          </p:nvSpPr>
          <p:spPr>
            <a:xfrm>
              <a:off x="16080" y="-7620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FDFBFB">
                  <a:alpha val="29804"/>
                </a:srgbClr>
              </a:solidFill>
              <a:prstDash val="solid"/>
              <a:miter/>
            </a:ln>
          </p:spPr>
          <p:txBody>
            <a:bodyPr/>
            <a:lstStyle/>
            <a:p>
              <a:endParaRPr lang="en-US"/>
            </a:p>
          </p:txBody>
        </p:sp>
        <p:sp>
          <p:nvSpPr>
            <p:cNvPr id="51" name="TextBox 51"/>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aphicFrame>
        <p:nvGraphicFramePr>
          <p:cNvPr id="11" name="Table 10">
            <a:extLst>
              <a:ext uri="{FF2B5EF4-FFF2-40B4-BE49-F238E27FC236}">
                <a16:creationId xmlns:a16="http://schemas.microsoft.com/office/drawing/2014/main" id="{6090F24A-36B2-9838-68C4-63E0F98A9BD4}"/>
              </a:ext>
            </a:extLst>
          </p:cNvPr>
          <p:cNvGraphicFramePr>
            <a:graphicFrameLocks noGrp="1"/>
          </p:cNvGraphicFramePr>
          <p:nvPr>
            <p:extLst>
              <p:ext uri="{D42A27DB-BD31-4B8C-83A1-F6EECF244321}">
                <p14:modId xmlns:p14="http://schemas.microsoft.com/office/powerpoint/2010/main" val="2771268800"/>
              </p:ext>
            </p:extLst>
          </p:nvPr>
        </p:nvGraphicFramePr>
        <p:xfrm>
          <a:off x="1508431" y="1770949"/>
          <a:ext cx="15155724" cy="7688370"/>
        </p:xfrm>
        <a:graphic>
          <a:graphicData uri="http://schemas.openxmlformats.org/drawingml/2006/table">
            <a:tbl>
              <a:tblPr>
                <a:tableStyleId>{BDBED569-4797-4DF1-A0F4-6AAB3CD982D8}</a:tableStyleId>
              </a:tblPr>
              <a:tblGrid>
                <a:gridCol w="5668514">
                  <a:extLst>
                    <a:ext uri="{9D8B030D-6E8A-4147-A177-3AD203B41FA5}">
                      <a16:colId xmlns:a16="http://schemas.microsoft.com/office/drawing/2014/main" val="2961549526"/>
                    </a:ext>
                  </a:extLst>
                </a:gridCol>
                <a:gridCol w="9487210">
                  <a:extLst>
                    <a:ext uri="{9D8B030D-6E8A-4147-A177-3AD203B41FA5}">
                      <a16:colId xmlns:a16="http://schemas.microsoft.com/office/drawing/2014/main" val="444445707"/>
                    </a:ext>
                  </a:extLst>
                </a:gridCol>
              </a:tblGrid>
              <a:tr h="1147165">
                <a:tc>
                  <a:txBody>
                    <a:bodyPr/>
                    <a:lstStyle/>
                    <a:p>
                      <a:pPr>
                        <a:buNone/>
                      </a:pPr>
                      <a:r>
                        <a:rPr lang="en-US" sz="4000" b="1" dirty="0">
                          <a:solidFill>
                            <a:schemeClr val="bg1"/>
                          </a:solidFill>
                          <a:latin typeface="Times New Roman" panose="02020603050405020304" pitchFamily="18" charset="0"/>
                          <a:cs typeface="Times New Roman" panose="02020603050405020304" pitchFamily="18" charset="0"/>
                        </a:rPr>
                        <a:t>Stage</a:t>
                      </a:r>
                      <a:endParaRPr lang="en-US" sz="4000" dirty="0">
                        <a:solidFill>
                          <a:schemeClr val="bg1"/>
                        </a:solidFill>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buNone/>
                      </a:pPr>
                      <a:r>
                        <a:rPr lang="en-US" sz="4000" b="1" dirty="0">
                          <a:solidFill>
                            <a:schemeClr val="bg1"/>
                          </a:solidFill>
                          <a:latin typeface="Times New Roman" panose="02020603050405020304" pitchFamily="18" charset="0"/>
                          <a:cs typeface="Times New Roman" panose="02020603050405020304" pitchFamily="18" charset="0"/>
                        </a:rPr>
                        <a:t>Description</a:t>
                      </a:r>
                      <a:endParaRPr lang="en-US" sz="4000" dirty="0">
                        <a:solidFill>
                          <a:schemeClr val="bg1"/>
                        </a:solidFill>
                        <a:latin typeface="Times New Roman" panose="02020603050405020304" pitchFamily="18" charset="0"/>
                        <a:cs typeface="Times New Roman" panose="02020603050405020304" pitchFamily="18" charset="0"/>
                      </a:endParaRPr>
                    </a:p>
                  </a:txBody>
                  <a:tcPr marL="79403" marR="79403" marT="39701" marB="39701" anchor="ctr"/>
                </a:tc>
                <a:extLst>
                  <a:ext uri="{0D108BD9-81ED-4DB2-BD59-A6C34878D82A}">
                    <a16:rowId xmlns:a16="http://schemas.microsoft.com/office/drawing/2014/main" val="1938242247"/>
                  </a:ext>
                </a:extLst>
              </a:tr>
              <a:tr h="3282800">
                <a:tc>
                  <a:txBody>
                    <a:bodyPr/>
                    <a:lstStyle/>
                    <a:p>
                      <a:pPr>
                        <a:buNone/>
                      </a:pPr>
                      <a:r>
                        <a:rPr lang="en-US" sz="3200" b="1" dirty="0">
                          <a:solidFill>
                            <a:schemeClr val="bg1"/>
                          </a:solidFill>
                          <a:latin typeface="Times New Roman" panose="02020603050405020304" pitchFamily="18" charset="0"/>
                          <a:cs typeface="Times New Roman" panose="02020603050405020304" pitchFamily="18" charset="0"/>
                        </a:rPr>
                        <a:t>Preliminary Concept</a:t>
                      </a:r>
                      <a:endParaRPr lang="en-US" sz="3200" dirty="0">
                        <a:solidFill>
                          <a:schemeClr val="bg1"/>
                        </a:solidFill>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just">
                        <a:buNone/>
                      </a:pPr>
                      <a:r>
                        <a:rPr lang="en-US" sz="2400" dirty="0">
                          <a:solidFill>
                            <a:schemeClr val="bg1"/>
                          </a:solidFill>
                          <a:latin typeface="Times New Roman" panose="02020603050405020304" pitchFamily="18" charset="0"/>
                          <a:cs typeface="Times New Roman" panose="02020603050405020304" pitchFamily="18" charset="0"/>
                        </a:rPr>
                        <a:t>Initial meetings with students, teachers, and parents identified key learning challenges across different levels. Students struggle with basic operations and often memorize formulas without understanding concepts. Teachers face difficulty explaining fundamentals, highlighting the need for step-by-step visuals and interactive learning.</a:t>
                      </a:r>
                    </a:p>
                  </a:txBody>
                  <a:tcPr marL="79403" marR="79403" marT="39701" marB="39701" anchor="ctr"/>
                </a:tc>
                <a:extLst>
                  <a:ext uri="{0D108BD9-81ED-4DB2-BD59-A6C34878D82A}">
                    <a16:rowId xmlns:a16="http://schemas.microsoft.com/office/drawing/2014/main" val="3359866018"/>
                  </a:ext>
                </a:extLst>
              </a:tr>
              <a:tr h="3258405">
                <a:tc>
                  <a:txBody>
                    <a:bodyPr/>
                    <a:lstStyle/>
                    <a:p>
                      <a:pPr>
                        <a:buNone/>
                      </a:pPr>
                      <a:r>
                        <a:rPr lang="en-US" sz="3200" b="1" dirty="0">
                          <a:solidFill>
                            <a:schemeClr val="bg1"/>
                          </a:solidFill>
                          <a:latin typeface="Times New Roman" panose="02020603050405020304" pitchFamily="18" charset="0"/>
                          <a:cs typeface="Times New Roman" panose="02020603050405020304" pitchFamily="18" charset="0"/>
                        </a:rPr>
                        <a:t>Finalized Concept</a:t>
                      </a:r>
                      <a:endParaRPr lang="en-US" sz="3200" dirty="0">
                        <a:solidFill>
                          <a:schemeClr val="bg1"/>
                        </a:solidFill>
                        <a:latin typeface="Times New Roman" panose="02020603050405020304" pitchFamily="18" charset="0"/>
                        <a:cs typeface="Times New Roman" panose="02020603050405020304" pitchFamily="18" charset="0"/>
                      </a:endParaRPr>
                    </a:p>
                  </a:txBody>
                  <a:tcPr marL="79403" marR="79403" marT="39701" marB="39701" anchor="ctr"/>
                </a:tc>
                <a:tc>
                  <a:txBody>
                    <a:bodyPr/>
                    <a:lstStyle/>
                    <a:p>
                      <a:pPr algn="just">
                        <a:buNone/>
                      </a:pPr>
                      <a:r>
                        <a:rPr lang="en-US" sz="2400" dirty="0">
                          <a:solidFill>
                            <a:schemeClr val="bg1"/>
                          </a:solidFill>
                          <a:latin typeface="Times New Roman" panose="02020603050405020304" pitchFamily="18" charset="0"/>
                          <a:cs typeface="Times New Roman" panose="02020603050405020304" pitchFamily="18" charset="0"/>
                        </a:rPr>
                        <a:t>Based on requirement analysis, </a:t>
                      </a:r>
                      <a:r>
                        <a:rPr lang="en-US" sz="2400" dirty="0" err="1">
                          <a:solidFill>
                            <a:schemeClr val="bg1"/>
                          </a:solidFill>
                          <a:latin typeface="Times New Roman" panose="02020603050405020304" pitchFamily="18" charset="0"/>
                          <a:cs typeface="Times New Roman" panose="02020603050405020304" pitchFamily="18" charset="0"/>
                        </a:rPr>
                        <a:t>Calcure</a:t>
                      </a:r>
                      <a:r>
                        <a:rPr lang="en-US" sz="2400" dirty="0">
                          <a:solidFill>
                            <a:schemeClr val="bg1"/>
                          </a:solidFill>
                          <a:latin typeface="Times New Roman" panose="02020603050405020304" pitchFamily="18" charset="0"/>
                          <a:cs typeface="Times New Roman" panose="02020603050405020304" pitchFamily="18" charset="0"/>
                        </a:rPr>
                        <a:t> was finalized as a visualization-driven mathematics learning platform. The system emphasizes step-by-step problem solving, conceptual explanations, and derivation-based learning to strengthen foundational </a:t>
                      </a:r>
                      <a:r>
                        <a:rPr lang="en-US" sz="2400" dirty="0" err="1">
                          <a:solidFill>
                            <a:schemeClr val="bg1"/>
                          </a:solidFill>
                          <a:latin typeface="Times New Roman" panose="02020603050405020304" pitchFamily="18" charset="0"/>
                          <a:cs typeface="Times New Roman" panose="02020603050405020304" pitchFamily="18" charset="0"/>
                        </a:rPr>
                        <a:t>understanding.Calcure</a:t>
                      </a:r>
                      <a:r>
                        <a:rPr lang="en-US" sz="2400" dirty="0">
                          <a:solidFill>
                            <a:schemeClr val="bg1"/>
                          </a:solidFill>
                          <a:latin typeface="Times New Roman" panose="02020603050405020304" pitchFamily="18" charset="0"/>
                          <a:cs typeface="Times New Roman" panose="02020603050405020304" pitchFamily="18" charset="0"/>
                        </a:rPr>
                        <a:t> supports learners from primary to higher secondary levels by combining interactive practice, visual demonstrations, and guided explanations, ensuring both conceptual clarity and long-term retention of mathematical concepts.</a:t>
                      </a:r>
                    </a:p>
                  </a:txBody>
                  <a:tcPr marL="79403" marR="79403" marT="39701" marB="39701" anchor="ctr"/>
                </a:tc>
                <a:extLst>
                  <a:ext uri="{0D108BD9-81ED-4DB2-BD59-A6C34878D82A}">
                    <a16:rowId xmlns:a16="http://schemas.microsoft.com/office/drawing/2014/main" val="2903071544"/>
                  </a:ext>
                </a:extLst>
              </a:tr>
            </a:tbl>
          </a:graphicData>
        </a:graphic>
      </p:graphicFrame>
      <p:sp>
        <p:nvSpPr>
          <p:cNvPr id="12" name="TextBox 11">
            <a:extLst>
              <a:ext uri="{FF2B5EF4-FFF2-40B4-BE49-F238E27FC236}">
                <a16:creationId xmlns:a16="http://schemas.microsoft.com/office/drawing/2014/main" id="{9AA3CD3C-7B84-6D11-D658-6947DC6233F9}"/>
              </a:ext>
            </a:extLst>
          </p:cNvPr>
          <p:cNvSpPr txBox="1"/>
          <p:nvPr/>
        </p:nvSpPr>
        <p:spPr>
          <a:xfrm>
            <a:off x="1398069" y="608013"/>
            <a:ext cx="10631021" cy="1046440"/>
          </a:xfrm>
          <a:prstGeom prst="rect">
            <a:avLst/>
          </a:prstGeom>
          <a:noFill/>
        </p:spPr>
        <p:txBody>
          <a:bodyPr wrap="square" rtlCol="0">
            <a:spAutoFit/>
          </a:bodyPr>
          <a:lstStyle/>
          <a:p>
            <a:r>
              <a:rPr lang="en-US" sz="4400" b="1" dirty="0">
                <a:solidFill>
                  <a:schemeClr val="bg1"/>
                </a:solidFill>
                <a:latin typeface="Times New Roman" panose="02020603050405020304" pitchFamily="18" charset="0"/>
                <a:ea typeface="Prompt Medium" pitchFamily="34" charset="-122"/>
                <a:cs typeface="Times New Roman" panose="02020603050405020304" pitchFamily="18" charset="0"/>
              </a:rPr>
              <a:t>Preliminary</a:t>
            </a:r>
            <a:r>
              <a:rPr lang="en-US" sz="4400" b="1" dirty="0">
                <a:solidFill>
                  <a:srgbClr val="C6BFEE"/>
                </a:solidFill>
                <a:latin typeface="Times New Roman" panose="02020603050405020304" pitchFamily="18" charset="0"/>
                <a:ea typeface="Prompt Medium" pitchFamily="34" charset="-122"/>
                <a:cs typeface="Times New Roman" panose="02020603050405020304" pitchFamily="18" charset="0"/>
              </a:rPr>
              <a:t> </a:t>
            </a:r>
            <a:r>
              <a:rPr lang="en-US" sz="4400" b="1" dirty="0">
                <a:solidFill>
                  <a:schemeClr val="bg1"/>
                </a:solidFill>
                <a:latin typeface="Times New Roman" panose="02020603050405020304" pitchFamily="18" charset="0"/>
                <a:ea typeface="Prompt Medium" pitchFamily="34" charset="-122"/>
                <a:cs typeface="Times New Roman" panose="02020603050405020304" pitchFamily="18" charset="0"/>
              </a:rPr>
              <a:t>Concept vs. Finalized Concept</a:t>
            </a:r>
            <a:endParaRPr lang="en-US" sz="4400" b="1" dirty="0">
              <a:solidFill>
                <a:schemeClr val="bg1"/>
              </a:solidFill>
              <a:latin typeface="Times New Roman" panose="02020603050405020304" pitchFamily="18" charset="0"/>
              <a:cs typeface="Times New Roman" panose="02020603050405020304" pitchFamily="18" charset="0"/>
            </a:endParaRPr>
          </a:p>
          <a:p>
            <a:endParaRPr lang="en-US" b="1"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3DA6-8ACF-C69E-191A-66633009A756}"/>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5BDF79D5-5CDB-62CF-B239-92B85D88BC53}"/>
              </a:ext>
            </a:extLst>
          </p:cNvPr>
          <p:cNvSpPr txBox="1"/>
          <p:nvPr/>
        </p:nvSpPr>
        <p:spPr>
          <a:xfrm>
            <a:off x="4007874" y="325179"/>
            <a:ext cx="9738013" cy="2215991"/>
          </a:xfrm>
          <a:prstGeom prst="rect">
            <a:avLst/>
          </a:prstGeom>
        </p:spPr>
        <p:txBody>
          <a:bodyPr wrap="square" lIns="0" tIns="0" rIns="0" bIns="0" rtlCol="0" anchor="t">
            <a:spAutoFit/>
          </a:bodyPr>
          <a:lstStyle/>
          <a:p>
            <a:pPr algn="ctr"/>
            <a:r>
              <a:rPr lang="en-US" sz="7200" spc="-93" dirty="0">
                <a:latin typeface="Times New Roman"/>
                <a:ea typeface="Calibri"/>
                <a:cs typeface="Calibri"/>
              </a:rPr>
              <a:t>Stakeholders Engagement </a:t>
            </a:r>
          </a:p>
          <a:p>
            <a:pPr algn="ctr"/>
            <a:endParaRPr lang="en-US" sz="7200" spc="-93" dirty="0">
              <a:solidFill>
                <a:srgbClr val="000000"/>
              </a:solidFill>
              <a:latin typeface="Times New Roman"/>
              <a:ea typeface="Calibri"/>
              <a:cs typeface="Times New Roman"/>
            </a:endParaRPr>
          </a:p>
        </p:txBody>
      </p:sp>
      <p:grpSp>
        <p:nvGrpSpPr>
          <p:cNvPr id="4" name="Group 4">
            <a:extLst>
              <a:ext uri="{FF2B5EF4-FFF2-40B4-BE49-F238E27FC236}">
                <a16:creationId xmlns:a16="http://schemas.microsoft.com/office/drawing/2014/main" id="{02DF5E89-EFD1-9914-F240-830A5749E1F3}"/>
              </a:ext>
            </a:extLst>
          </p:cNvPr>
          <p:cNvGrpSpPr/>
          <p:nvPr/>
        </p:nvGrpSpPr>
        <p:grpSpPr>
          <a:xfrm>
            <a:off x="-2348635" y="7755687"/>
            <a:ext cx="5578401" cy="6136709"/>
            <a:chOff x="-18376" y="38100"/>
            <a:chExt cx="812800" cy="894148"/>
          </a:xfrm>
        </p:grpSpPr>
        <p:sp>
          <p:nvSpPr>
            <p:cNvPr id="5" name="Freeform 5">
              <a:extLst>
                <a:ext uri="{FF2B5EF4-FFF2-40B4-BE49-F238E27FC236}">
                  <a16:creationId xmlns:a16="http://schemas.microsoft.com/office/drawing/2014/main" id="{92CF56A4-65BC-7CDB-AF24-12C959D6A331}"/>
                </a:ext>
              </a:extLst>
            </p:cNvPr>
            <p:cNvSpPr/>
            <p:nvPr/>
          </p:nvSpPr>
          <p:spPr>
            <a:xfrm>
              <a:off x="-18376" y="119448"/>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dirty="0"/>
            </a:p>
          </p:txBody>
        </p:sp>
        <p:sp>
          <p:nvSpPr>
            <p:cNvPr id="6" name="TextBox 6">
              <a:extLst>
                <a:ext uri="{FF2B5EF4-FFF2-40B4-BE49-F238E27FC236}">
                  <a16:creationId xmlns:a16="http://schemas.microsoft.com/office/drawing/2014/main" id="{2380A217-3D20-512B-AEC3-6227DA9308E1}"/>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8D6AF092-08BD-ABFB-0054-1BDA176CE2F6}"/>
              </a:ext>
            </a:extLst>
          </p:cNvPr>
          <p:cNvGrpSpPr/>
          <p:nvPr/>
        </p:nvGrpSpPr>
        <p:grpSpPr>
          <a:xfrm>
            <a:off x="722035" y="9130847"/>
            <a:ext cx="452472" cy="452472"/>
            <a:chOff x="0" y="0"/>
            <a:chExt cx="812800" cy="812800"/>
          </a:xfrm>
        </p:grpSpPr>
        <p:sp>
          <p:nvSpPr>
            <p:cNvPr id="8" name="Freeform 8">
              <a:extLst>
                <a:ext uri="{FF2B5EF4-FFF2-40B4-BE49-F238E27FC236}">
                  <a16:creationId xmlns:a16="http://schemas.microsoft.com/office/drawing/2014/main" id="{C9892D5E-1192-B2E3-54D0-87DBFE84A1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5A2BE7B8-D62F-37B7-FBC0-891C45FB96A8}"/>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5BC33CE3-0B1F-BF3B-1855-33E27DC20A89}"/>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71528D3A-EDF0-3EFF-2FF9-6AB0021F80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F4C85299-EBBA-560B-BDFF-6796F37177D2}"/>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45" name="TextBox 45">
            <a:extLst>
              <a:ext uri="{FF2B5EF4-FFF2-40B4-BE49-F238E27FC236}">
                <a16:creationId xmlns:a16="http://schemas.microsoft.com/office/drawing/2014/main" id="{FC659336-A087-A699-D168-CA78C75D20BB}"/>
              </a:ext>
            </a:extLst>
          </p:cNvPr>
          <p:cNvSpPr txBox="1"/>
          <p:nvPr/>
        </p:nvSpPr>
        <p:spPr>
          <a:xfrm>
            <a:off x="4077036" y="8444226"/>
            <a:ext cx="1717538" cy="1016999"/>
          </a:xfrm>
          <a:prstGeom prst="rect">
            <a:avLst/>
          </a:prstGeom>
        </p:spPr>
        <p:txBody>
          <a:bodyPr lIns="50800" tIns="50800" rIns="50800" bIns="50800" rtlCol="0" anchor="ctr"/>
          <a:lstStyle/>
          <a:p>
            <a:pPr marL="0" lvl="0" indent="0" algn="ctr">
              <a:lnSpc>
                <a:spcPts val="2756"/>
              </a:lnSpc>
              <a:spcBef>
                <a:spcPct val="0"/>
              </a:spcBef>
            </a:pPr>
            <a:endParaRPr/>
          </a:p>
        </p:txBody>
      </p:sp>
      <p:pic>
        <p:nvPicPr>
          <p:cNvPr id="13" name="Picture 12">
            <a:extLst>
              <a:ext uri="{FF2B5EF4-FFF2-40B4-BE49-F238E27FC236}">
                <a16:creationId xmlns:a16="http://schemas.microsoft.com/office/drawing/2014/main" id="{AEF53728-7768-A91B-2414-9F0EE076FFC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1118" y="2068643"/>
            <a:ext cx="7687857" cy="5765892"/>
          </a:xfrm>
          <a:prstGeom prst="rect">
            <a:avLst/>
          </a:prstGeom>
        </p:spPr>
      </p:pic>
      <p:pic>
        <p:nvPicPr>
          <p:cNvPr id="20" name="Picture 19">
            <a:extLst>
              <a:ext uri="{FF2B5EF4-FFF2-40B4-BE49-F238E27FC236}">
                <a16:creationId xmlns:a16="http://schemas.microsoft.com/office/drawing/2014/main" id="{3037CADE-4E9E-F4D0-A034-7F26C053D92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9023" y="2068643"/>
            <a:ext cx="7687857" cy="5765892"/>
          </a:xfrm>
          <a:prstGeom prst="rect">
            <a:avLst/>
          </a:prstGeom>
        </p:spPr>
      </p:pic>
      <p:sp>
        <p:nvSpPr>
          <p:cNvPr id="3" name="TextBox 2">
            <a:extLst>
              <a:ext uri="{FF2B5EF4-FFF2-40B4-BE49-F238E27FC236}">
                <a16:creationId xmlns:a16="http://schemas.microsoft.com/office/drawing/2014/main" id="{7ADC057B-B175-727C-79F8-DFA8DFB7467C}"/>
              </a:ext>
            </a:extLst>
          </p:cNvPr>
          <p:cNvSpPr txBox="1"/>
          <p:nvPr/>
        </p:nvSpPr>
        <p:spPr>
          <a:xfrm>
            <a:off x="3303716" y="7834536"/>
            <a:ext cx="5360599" cy="1815882"/>
          </a:xfrm>
          <a:prstGeom prst="rect">
            <a:avLst/>
          </a:prstGeom>
          <a:noFill/>
        </p:spPr>
        <p:txBody>
          <a:bodyPr wrap="square" rtlCol="0">
            <a:spAutoFit/>
          </a:bodyPr>
          <a:lstStyle/>
          <a:p>
            <a:r>
              <a:rPr lang="en-US" sz="2800" dirty="0" err="1">
                <a:latin typeface="Times New Roman" panose="02020603050405020304" pitchFamily="18" charset="0"/>
                <a:cs typeface="Times New Roman" panose="02020603050405020304" pitchFamily="18" charset="0"/>
              </a:rPr>
              <a:t>Moahmmad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NurNabi</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Assistant Teacher ( Math )</a:t>
            </a:r>
          </a:p>
          <a:p>
            <a:r>
              <a:rPr lang="en-US" sz="2800" dirty="0">
                <a:latin typeface="Times New Roman" panose="02020603050405020304" pitchFamily="18" charset="0"/>
                <a:cs typeface="Times New Roman" panose="02020603050405020304" pitchFamily="18" charset="0"/>
              </a:rPr>
              <a:t>Primary Section</a:t>
            </a:r>
          </a:p>
          <a:p>
            <a:r>
              <a:rPr lang="en-US" sz="2800" dirty="0" err="1">
                <a:latin typeface="Times New Roman" panose="02020603050405020304" pitchFamily="18" charset="0"/>
                <a:cs typeface="Times New Roman" panose="02020603050405020304" pitchFamily="18" charset="0"/>
              </a:rPr>
              <a:t>Banglabazar</a:t>
            </a:r>
            <a:r>
              <a:rPr lang="en-US" sz="2800" dirty="0">
                <a:latin typeface="Times New Roman" panose="02020603050405020304" pitchFamily="18" charset="0"/>
                <a:cs typeface="Times New Roman" panose="02020603050405020304" pitchFamily="18" charset="0"/>
              </a:rPr>
              <a:t> High School, Noakhali </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7A5C8746-DFA8-FA1F-AF25-45BBD8E2ED72}"/>
              </a:ext>
            </a:extLst>
          </p:cNvPr>
          <p:cNvSpPr txBox="1"/>
          <p:nvPr/>
        </p:nvSpPr>
        <p:spPr>
          <a:xfrm>
            <a:off x="11386500" y="8160974"/>
            <a:ext cx="5943289"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Engagement with students of class 6-8</a:t>
            </a:r>
          </a:p>
          <a:p>
            <a:r>
              <a:rPr lang="en-US" sz="2800" dirty="0">
                <a:latin typeface="Times New Roman" panose="02020603050405020304" pitchFamily="18" charset="0"/>
                <a:cs typeface="Times New Roman" panose="02020603050405020304" pitchFamily="18" charset="0"/>
              </a:rPr>
              <a:t>At </a:t>
            </a:r>
            <a:r>
              <a:rPr lang="en-US" sz="2800" dirty="0" err="1">
                <a:latin typeface="Times New Roman" panose="02020603050405020304" pitchFamily="18" charset="0"/>
                <a:cs typeface="Times New Roman" panose="02020603050405020304" pitchFamily="18" charset="0"/>
              </a:rPr>
              <a:t>Banglabazar</a:t>
            </a:r>
            <a:r>
              <a:rPr lang="en-US" sz="2800" dirty="0">
                <a:latin typeface="Times New Roman" panose="02020603050405020304" pitchFamily="18" charset="0"/>
                <a:cs typeface="Times New Roman" panose="02020603050405020304" pitchFamily="18" charset="0"/>
              </a:rPr>
              <a:t> High School, Noakhali</a:t>
            </a:r>
          </a:p>
        </p:txBody>
      </p:sp>
    </p:spTree>
    <p:extLst>
      <p:ext uri="{BB962C8B-B14F-4D97-AF65-F5344CB8AC3E}">
        <p14:creationId xmlns:p14="http://schemas.microsoft.com/office/powerpoint/2010/main" val="23970312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9BAEC-AC07-2253-005C-B02E71667E5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A0A761E6-8BFE-5DF4-0CC1-26741E777353}"/>
              </a:ext>
            </a:extLst>
          </p:cNvPr>
          <p:cNvSpPr txBox="1"/>
          <p:nvPr/>
        </p:nvSpPr>
        <p:spPr>
          <a:xfrm>
            <a:off x="3850546" y="456898"/>
            <a:ext cx="10390002" cy="2215991"/>
          </a:xfrm>
          <a:prstGeom prst="rect">
            <a:avLst/>
          </a:prstGeom>
        </p:spPr>
        <p:txBody>
          <a:bodyPr wrap="square" lIns="0" tIns="0" rIns="0" bIns="0" rtlCol="0" anchor="t">
            <a:spAutoFit/>
          </a:bodyPr>
          <a:lstStyle/>
          <a:p>
            <a:pPr algn="ctr"/>
            <a:r>
              <a:rPr lang="en-US" sz="7200" spc="-93" dirty="0">
                <a:latin typeface="Times New Roman"/>
                <a:ea typeface="Calibri"/>
                <a:cs typeface="Calibri"/>
              </a:rPr>
              <a:t>Stakeholders Engagement </a:t>
            </a:r>
          </a:p>
          <a:p>
            <a:pPr algn="ctr"/>
            <a:endParaRPr lang="en-US" sz="7200" spc="-93" dirty="0">
              <a:solidFill>
                <a:srgbClr val="000000"/>
              </a:solidFill>
              <a:latin typeface="Times New Roman"/>
              <a:ea typeface="Calibri"/>
              <a:cs typeface="Times New Roman"/>
            </a:endParaRPr>
          </a:p>
        </p:txBody>
      </p:sp>
      <p:grpSp>
        <p:nvGrpSpPr>
          <p:cNvPr id="4" name="Group 4">
            <a:extLst>
              <a:ext uri="{FF2B5EF4-FFF2-40B4-BE49-F238E27FC236}">
                <a16:creationId xmlns:a16="http://schemas.microsoft.com/office/drawing/2014/main" id="{E3860A3C-CD9C-A774-AFEB-5ECE1E53273C}"/>
              </a:ext>
            </a:extLst>
          </p:cNvPr>
          <p:cNvGrpSpPr/>
          <p:nvPr/>
        </p:nvGrpSpPr>
        <p:grpSpPr>
          <a:xfrm>
            <a:off x="-2222517" y="7494200"/>
            <a:ext cx="5578401" cy="5578401"/>
            <a:chOff x="0" y="0"/>
            <a:chExt cx="812800" cy="812800"/>
          </a:xfrm>
        </p:grpSpPr>
        <p:sp>
          <p:nvSpPr>
            <p:cNvPr id="5" name="Freeform 5">
              <a:extLst>
                <a:ext uri="{FF2B5EF4-FFF2-40B4-BE49-F238E27FC236}">
                  <a16:creationId xmlns:a16="http://schemas.microsoft.com/office/drawing/2014/main" id="{C0095553-04F8-16C7-2D88-2FE486ADAB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E0BD0686-D00B-507D-A65C-C1E2FF57E4F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2BCDC57D-AF3C-5C7A-99DA-288E2D5D1D98}"/>
              </a:ext>
            </a:extLst>
          </p:cNvPr>
          <p:cNvGrpSpPr/>
          <p:nvPr/>
        </p:nvGrpSpPr>
        <p:grpSpPr>
          <a:xfrm>
            <a:off x="722035" y="9130847"/>
            <a:ext cx="452472" cy="452472"/>
            <a:chOff x="0" y="0"/>
            <a:chExt cx="812800" cy="812800"/>
          </a:xfrm>
        </p:grpSpPr>
        <p:sp>
          <p:nvSpPr>
            <p:cNvPr id="8" name="Freeform 8">
              <a:extLst>
                <a:ext uri="{FF2B5EF4-FFF2-40B4-BE49-F238E27FC236}">
                  <a16:creationId xmlns:a16="http://schemas.microsoft.com/office/drawing/2014/main" id="{53C537E8-8FA4-328B-05A4-40D6EFFC98B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07C03DBB-A45A-D824-CA90-C6B1EAC56E5C}"/>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9DFF0F51-6DA5-C964-5C35-3E87FEB1F05E}"/>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70CEB93E-1582-2926-E63E-E78757C01F1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ACE625B2-E872-3F71-6556-FC37228D88DF}"/>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pic>
        <p:nvPicPr>
          <p:cNvPr id="16" name="Picture 15">
            <a:extLst>
              <a:ext uri="{FF2B5EF4-FFF2-40B4-BE49-F238E27FC236}">
                <a16:creationId xmlns:a16="http://schemas.microsoft.com/office/drawing/2014/main" id="{FB293856-1123-F526-A130-A2C93DC3FA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18470" y="2230493"/>
            <a:ext cx="7002379" cy="4516592"/>
          </a:xfrm>
          <a:prstGeom prst="rect">
            <a:avLst/>
          </a:prstGeom>
        </p:spPr>
      </p:pic>
      <p:pic>
        <p:nvPicPr>
          <p:cNvPr id="18" name="Picture 17">
            <a:extLst>
              <a:ext uri="{FF2B5EF4-FFF2-40B4-BE49-F238E27FC236}">
                <a16:creationId xmlns:a16="http://schemas.microsoft.com/office/drawing/2014/main" id="{1B5FA95F-2CD1-E971-AC01-63C3346DA1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0056" y="1999365"/>
            <a:ext cx="5738648" cy="4985539"/>
          </a:xfrm>
          <a:prstGeom prst="rect">
            <a:avLst/>
          </a:prstGeom>
        </p:spPr>
      </p:pic>
      <p:sp>
        <p:nvSpPr>
          <p:cNvPr id="3" name="TextBox 2">
            <a:extLst>
              <a:ext uri="{FF2B5EF4-FFF2-40B4-BE49-F238E27FC236}">
                <a16:creationId xmlns:a16="http://schemas.microsoft.com/office/drawing/2014/main" id="{8507EB48-33F5-5D87-4D3E-5F34CD1EFD9B}"/>
              </a:ext>
            </a:extLst>
          </p:cNvPr>
          <p:cNvSpPr txBox="1"/>
          <p:nvPr/>
        </p:nvSpPr>
        <p:spPr>
          <a:xfrm>
            <a:off x="3355884" y="7105669"/>
            <a:ext cx="5565227"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Md </a:t>
            </a:r>
            <a:r>
              <a:rPr lang="en-US" sz="2800" dirty="0" err="1">
                <a:latin typeface="Times New Roman" panose="02020603050405020304" pitchFamily="18" charset="0"/>
                <a:cs typeface="Times New Roman" panose="02020603050405020304" pitchFamily="18" charset="0"/>
              </a:rPr>
              <a:t>Ashiqullah</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Assistant Teacher ( Math )</a:t>
            </a:r>
          </a:p>
          <a:p>
            <a:r>
              <a:rPr lang="en-US" sz="2800" dirty="0">
                <a:latin typeface="Times New Roman" panose="02020603050405020304" pitchFamily="18" charset="0"/>
                <a:cs typeface="Times New Roman" panose="02020603050405020304" pitchFamily="18" charset="0"/>
              </a:rPr>
              <a:t>High School Section</a:t>
            </a:r>
          </a:p>
          <a:p>
            <a:r>
              <a:rPr lang="en-US" sz="2800" dirty="0" err="1">
                <a:latin typeface="Times New Roman" panose="02020603050405020304" pitchFamily="18" charset="0"/>
                <a:cs typeface="Times New Roman" panose="02020603050405020304" pitchFamily="18" charset="0"/>
              </a:rPr>
              <a:t>Banglabazar</a:t>
            </a:r>
            <a:r>
              <a:rPr lang="en-US" sz="2800" dirty="0">
                <a:latin typeface="Times New Roman" panose="02020603050405020304" pitchFamily="18" charset="0"/>
                <a:cs typeface="Times New Roman" panose="02020603050405020304" pitchFamily="18" charset="0"/>
              </a:rPr>
              <a:t> High School, Noakhali </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AD832FE-6D40-3223-2D6B-CD0EC25F2A4F}"/>
              </a:ext>
            </a:extLst>
          </p:cNvPr>
          <p:cNvSpPr txBox="1"/>
          <p:nvPr/>
        </p:nvSpPr>
        <p:spPr>
          <a:xfrm>
            <a:off x="10326414" y="7105669"/>
            <a:ext cx="6132786" cy="954107"/>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Engagement with students of class 9-10</a:t>
            </a:r>
          </a:p>
          <a:p>
            <a:r>
              <a:rPr lang="en-US" sz="2800" dirty="0">
                <a:latin typeface="Times New Roman" panose="02020603050405020304" pitchFamily="18" charset="0"/>
                <a:cs typeface="Times New Roman" panose="02020603050405020304" pitchFamily="18" charset="0"/>
              </a:rPr>
              <a:t>At </a:t>
            </a:r>
            <a:r>
              <a:rPr lang="en-US" sz="2800" dirty="0" err="1">
                <a:latin typeface="Times New Roman" panose="02020603050405020304" pitchFamily="18" charset="0"/>
                <a:cs typeface="Times New Roman" panose="02020603050405020304" pitchFamily="18" charset="0"/>
              </a:rPr>
              <a:t>Banglabazar</a:t>
            </a:r>
            <a:r>
              <a:rPr lang="en-US" sz="2800" dirty="0">
                <a:latin typeface="Times New Roman" panose="02020603050405020304" pitchFamily="18" charset="0"/>
                <a:cs typeface="Times New Roman" panose="02020603050405020304" pitchFamily="18" charset="0"/>
              </a:rPr>
              <a:t> High School, Noakhali</a:t>
            </a:r>
          </a:p>
        </p:txBody>
      </p:sp>
    </p:spTree>
    <p:extLst>
      <p:ext uri="{BB962C8B-B14F-4D97-AF65-F5344CB8AC3E}">
        <p14:creationId xmlns:p14="http://schemas.microsoft.com/office/powerpoint/2010/main" val="41481989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4E93D-6AA3-AF83-215A-86D8D6A0078C}"/>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C999BBB0-874E-8B8B-EA75-A2B9C0FF8287}"/>
              </a:ext>
            </a:extLst>
          </p:cNvPr>
          <p:cNvSpPr txBox="1"/>
          <p:nvPr/>
        </p:nvSpPr>
        <p:spPr>
          <a:xfrm>
            <a:off x="5051458" y="544151"/>
            <a:ext cx="8197831" cy="1107996"/>
          </a:xfrm>
          <a:prstGeom prst="rect">
            <a:avLst/>
          </a:prstGeom>
        </p:spPr>
        <p:txBody>
          <a:bodyPr wrap="square" lIns="0" tIns="0" rIns="0" bIns="0" rtlCol="0" anchor="t">
            <a:spAutoFit/>
          </a:bodyPr>
          <a:lstStyle/>
          <a:p>
            <a:pPr algn="ctr"/>
            <a:r>
              <a:rPr lang="en-US" sz="7200" spc="-93" dirty="0">
                <a:solidFill>
                  <a:srgbClr val="000000"/>
                </a:solidFill>
                <a:latin typeface="Times New Roman"/>
                <a:ea typeface="Calibri"/>
                <a:cs typeface="Calibri"/>
              </a:rPr>
              <a:t>Project Scenarios</a:t>
            </a:r>
          </a:p>
        </p:txBody>
      </p:sp>
      <p:grpSp>
        <p:nvGrpSpPr>
          <p:cNvPr id="4" name="Group 4">
            <a:extLst>
              <a:ext uri="{FF2B5EF4-FFF2-40B4-BE49-F238E27FC236}">
                <a16:creationId xmlns:a16="http://schemas.microsoft.com/office/drawing/2014/main" id="{92B095CF-B772-F96F-9EFC-1EAAAC419CAE}"/>
              </a:ext>
            </a:extLst>
          </p:cNvPr>
          <p:cNvGrpSpPr/>
          <p:nvPr/>
        </p:nvGrpSpPr>
        <p:grpSpPr>
          <a:xfrm>
            <a:off x="-2222517" y="7494200"/>
            <a:ext cx="5578401" cy="5578401"/>
            <a:chOff x="0" y="0"/>
            <a:chExt cx="812800" cy="812800"/>
          </a:xfrm>
        </p:grpSpPr>
        <p:sp>
          <p:nvSpPr>
            <p:cNvPr id="5" name="Freeform 5">
              <a:extLst>
                <a:ext uri="{FF2B5EF4-FFF2-40B4-BE49-F238E27FC236}">
                  <a16:creationId xmlns:a16="http://schemas.microsoft.com/office/drawing/2014/main" id="{B5740364-D621-538A-A916-1D4A3DDBAE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014BD419-E7BC-2565-6A8B-9FE360C0D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0B9CEB79-B3C7-38E9-F301-E8085845D1FC}"/>
              </a:ext>
            </a:extLst>
          </p:cNvPr>
          <p:cNvGrpSpPr/>
          <p:nvPr/>
        </p:nvGrpSpPr>
        <p:grpSpPr>
          <a:xfrm>
            <a:off x="722035" y="9130847"/>
            <a:ext cx="452472" cy="452472"/>
            <a:chOff x="0" y="0"/>
            <a:chExt cx="812800" cy="812800"/>
          </a:xfrm>
        </p:grpSpPr>
        <p:sp>
          <p:nvSpPr>
            <p:cNvPr id="8" name="Freeform 8">
              <a:extLst>
                <a:ext uri="{FF2B5EF4-FFF2-40B4-BE49-F238E27FC236}">
                  <a16:creationId xmlns:a16="http://schemas.microsoft.com/office/drawing/2014/main" id="{73C8F16C-1B5E-6A48-C445-530858F906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43A492D5-49AB-F20E-D43B-99BF1A76295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1B64F04F-6811-E577-161C-B0C34D7A1329}"/>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E04323D6-AFCA-E7CC-2DBA-C10DFA4588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0DD27081-C313-AE3E-4A50-6C963B1CBF0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675FAA71-2431-08D8-0BA3-AC5C5D8E62EA}"/>
              </a:ext>
            </a:extLst>
          </p:cNvPr>
          <p:cNvGrpSpPr/>
          <p:nvPr/>
        </p:nvGrpSpPr>
        <p:grpSpPr>
          <a:xfrm>
            <a:off x="4809335" y="8388753"/>
            <a:ext cx="1183417" cy="1183417"/>
            <a:chOff x="0" y="0"/>
            <a:chExt cx="812800" cy="812800"/>
          </a:xfrm>
        </p:grpSpPr>
        <p:sp>
          <p:nvSpPr>
            <p:cNvPr id="44" name="Freeform 44">
              <a:extLst>
                <a:ext uri="{FF2B5EF4-FFF2-40B4-BE49-F238E27FC236}">
                  <a16:creationId xmlns:a16="http://schemas.microsoft.com/office/drawing/2014/main" id="{5370A5B7-D741-0B14-7C19-87BA4CC920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C68D4511-6185-6EAB-808B-E4429F556D2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4" name="TextBox 1">
            <a:extLst>
              <a:ext uri="{FF2B5EF4-FFF2-40B4-BE49-F238E27FC236}">
                <a16:creationId xmlns:a16="http://schemas.microsoft.com/office/drawing/2014/main" id="{E2EAA6AD-CC25-C2E2-DB1D-95A8F1999E4C}"/>
              </a:ext>
            </a:extLst>
          </p:cNvPr>
          <p:cNvSpPr txBox="1"/>
          <p:nvPr/>
        </p:nvSpPr>
        <p:spPr>
          <a:xfrm>
            <a:off x="2179279" y="1919308"/>
            <a:ext cx="14706884" cy="7109639"/>
          </a:xfrm>
          <a:prstGeom prst="rect">
            <a:avLst/>
          </a:prstGeom>
          <a:noFill/>
          <a:ln>
            <a:solidFill>
              <a:schemeClr val="accent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Scenario 1: Primary Learner (Grade 1–5): Arif Learns Geometry with </a:t>
            </a:r>
            <a:r>
              <a:rPr lang="en-US" sz="2400" b="1" dirty="0" err="1">
                <a:latin typeface="Times New Roman" panose="02020603050405020304" pitchFamily="18" charset="0"/>
                <a:cs typeface="Times New Roman" panose="02020603050405020304" pitchFamily="18" charset="0"/>
              </a:rPr>
              <a:t>Calcure</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Context: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Arif is a Class 3 student. He uses </a:t>
            </a: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on a tablet at home to learn math in a fun and easy way. His account is connected to his parent’s account.</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Scenario 1a: Learning with visuals and practice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Arif opens </a:t>
            </a:r>
            <a:r>
              <a:rPr lang="en-US" sz="2400" b="1"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and logs in with his account.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 chooses </a:t>
            </a:r>
            <a:r>
              <a:rPr lang="en-US" sz="2400" b="1" dirty="0">
                <a:latin typeface="Times New Roman" panose="02020603050405020304" pitchFamily="18" charset="0"/>
                <a:cs typeface="Times New Roman" panose="02020603050405020304" pitchFamily="18" charset="0"/>
              </a:rPr>
              <a:t>Class 3 → Geometry → Shapes</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app shows a </a:t>
            </a:r>
            <a:r>
              <a:rPr lang="en-US" sz="2400" b="1" dirty="0">
                <a:latin typeface="Times New Roman" panose="02020603050405020304" pitchFamily="18" charset="0"/>
                <a:cs typeface="Times New Roman" panose="02020603050405020304" pitchFamily="18" charset="0"/>
              </a:rPr>
              <a:t>short animated video</a:t>
            </a:r>
            <a:r>
              <a:rPr lang="en-US" sz="2400" dirty="0">
                <a:latin typeface="Times New Roman" panose="02020603050405020304" pitchFamily="18" charset="0"/>
                <a:cs typeface="Times New Roman" panose="02020603050405020304" pitchFamily="18" charset="0"/>
              </a:rPr>
              <a:t> in Bangla explaining shapes like triangles and squares.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Arif moves and touches shapes on the screen to understand them better.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After the lesson, </a:t>
            </a: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gives him a </a:t>
            </a:r>
            <a:r>
              <a:rPr lang="en-US" sz="2400" b="1" dirty="0">
                <a:latin typeface="Times New Roman" panose="02020603050405020304" pitchFamily="18" charset="0"/>
                <a:cs typeface="Times New Roman" panose="02020603050405020304" pitchFamily="18" charset="0"/>
              </a:rPr>
              <a:t>few simple practice questions</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Arif answers correctly, the app gives </a:t>
            </a:r>
            <a:r>
              <a:rPr lang="en-US" sz="2400" b="1" dirty="0">
                <a:latin typeface="Times New Roman" panose="02020603050405020304" pitchFamily="18" charset="0"/>
                <a:cs typeface="Times New Roman" panose="02020603050405020304" pitchFamily="18" charset="0"/>
              </a:rPr>
              <a:t>instant feedback</a:t>
            </a:r>
            <a:r>
              <a:rPr lang="en-US" sz="2400" dirty="0">
                <a:latin typeface="Times New Roman" panose="02020603050405020304" pitchFamily="18" charset="0"/>
                <a:cs typeface="Times New Roman" panose="02020603050405020304" pitchFamily="18" charset="0"/>
              </a:rPr>
              <a:t> and a happy animation.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he gets stuck, </a:t>
            </a: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shows a </a:t>
            </a:r>
            <a:r>
              <a:rPr lang="en-US" sz="2400" b="1" dirty="0">
                <a:latin typeface="Times New Roman" panose="02020603050405020304" pitchFamily="18" charset="0"/>
                <a:cs typeface="Times New Roman" panose="02020603050405020304" pitchFamily="18" charset="0"/>
              </a:rPr>
              <a:t>small hint with pictures</a:t>
            </a:r>
            <a:r>
              <a:rPr lang="en-US" sz="2400" dirty="0">
                <a:latin typeface="Times New Roman" panose="02020603050405020304" pitchFamily="18" charset="0"/>
                <a:cs typeface="Times New Roman" panose="02020603050405020304" pitchFamily="18" charset="0"/>
              </a:rPr>
              <a:t> to help him.</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At the end, Arif sees his </a:t>
            </a:r>
            <a:r>
              <a:rPr lang="en-US" sz="2400" b="1" dirty="0">
                <a:latin typeface="Times New Roman" panose="02020603050405020304" pitchFamily="18" charset="0"/>
                <a:cs typeface="Times New Roman" panose="02020603050405020304" pitchFamily="18" charset="0"/>
              </a:rPr>
              <a:t>score and progress</a:t>
            </a:r>
            <a:r>
              <a:rPr lang="en-US" sz="2400" dirty="0">
                <a:latin typeface="Times New Roman" panose="02020603050405020304" pitchFamily="18" charset="0"/>
                <a:cs typeface="Times New Roman" panose="02020603050405020304" pitchFamily="18" charset="0"/>
              </a:rPr>
              <a:t>, and earns a star.</a:t>
            </a:r>
          </a:p>
          <a:p>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37888929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DAB11-09F4-EC2E-F6F2-A2D8940032C2}"/>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253F279-6455-51CD-20D4-87C01A328AF1}"/>
              </a:ext>
            </a:extLst>
          </p:cNvPr>
          <p:cNvSpPr txBox="1"/>
          <p:nvPr/>
        </p:nvSpPr>
        <p:spPr>
          <a:xfrm>
            <a:off x="5051458" y="544151"/>
            <a:ext cx="8197831" cy="1107996"/>
          </a:xfrm>
          <a:prstGeom prst="rect">
            <a:avLst/>
          </a:prstGeom>
        </p:spPr>
        <p:txBody>
          <a:bodyPr wrap="square" lIns="0" tIns="0" rIns="0" bIns="0" rtlCol="0" anchor="t">
            <a:spAutoFit/>
          </a:bodyPr>
          <a:lstStyle/>
          <a:p>
            <a:pPr algn="ctr"/>
            <a:r>
              <a:rPr lang="en-US" sz="7200" spc="-93" dirty="0">
                <a:solidFill>
                  <a:srgbClr val="000000"/>
                </a:solidFill>
                <a:latin typeface="Times New Roman"/>
                <a:ea typeface="Calibri"/>
                <a:cs typeface="Calibri"/>
              </a:rPr>
              <a:t>Project Scenarios</a:t>
            </a:r>
          </a:p>
        </p:txBody>
      </p:sp>
      <p:grpSp>
        <p:nvGrpSpPr>
          <p:cNvPr id="4" name="Group 4">
            <a:extLst>
              <a:ext uri="{FF2B5EF4-FFF2-40B4-BE49-F238E27FC236}">
                <a16:creationId xmlns:a16="http://schemas.microsoft.com/office/drawing/2014/main" id="{137FCDE2-2580-4C8D-E790-B033604FF94F}"/>
              </a:ext>
            </a:extLst>
          </p:cNvPr>
          <p:cNvGrpSpPr/>
          <p:nvPr/>
        </p:nvGrpSpPr>
        <p:grpSpPr>
          <a:xfrm>
            <a:off x="-2222517" y="7494200"/>
            <a:ext cx="5578401" cy="5578401"/>
            <a:chOff x="0" y="0"/>
            <a:chExt cx="812800" cy="812800"/>
          </a:xfrm>
        </p:grpSpPr>
        <p:sp>
          <p:nvSpPr>
            <p:cNvPr id="5" name="Freeform 5">
              <a:extLst>
                <a:ext uri="{FF2B5EF4-FFF2-40B4-BE49-F238E27FC236}">
                  <a16:creationId xmlns:a16="http://schemas.microsoft.com/office/drawing/2014/main" id="{A42000E5-454E-8112-3C13-A7D18235661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5985B798-B96C-6F7F-D1FB-DA5FF3AEB070}"/>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85853DE9-28B7-F74F-2311-1DDA509141F3}"/>
              </a:ext>
            </a:extLst>
          </p:cNvPr>
          <p:cNvGrpSpPr/>
          <p:nvPr/>
        </p:nvGrpSpPr>
        <p:grpSpPr>
          <a:xfrm>
            <a:off x="722035" y="9130847"/>
            <a:ext cx="452472" cy="452472"/>
            <a:chOff x="0" y="0"/>
            <a:chExt cx="812800" cy="812800"/>
          </a:xfrm>
        </p:grpSpPr>
        <p:sp>
          <p:nvSpPr>
            <p:cNvPr id="8" name="Freeform 8">
              <a:extLst>
                <a:ext uri="{FF2B5EF4-FFF2-40B4-BE49-F238E27FC236}">
                  <a16:creationId xmlns:a16="http://schemas.microsoft.com/office/drawing/2014/main" id="{2717CCDA-E6FF-0174-2899-B44CCE1B11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5CB6F352-7F5B-F56B-1541-0DF86E11CD87}"/>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E1DE2794-CD22-219A-B234-D220A698613C}"/>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663D2657-3840-9390-73C7-ECA5794133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F75D90F3-527B-B804-5B88-344A7754E380}"/>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493203D9-2CA1-BC14-6375-A57C2A2CB27E}"/>
              </a:ext>
            </a:extLst>
          </p:cNvPr>
          <p:cNvGrpSpPr/>
          <p:nvPr/>
        </p:nvGrpSpPr>
        <p:grpSpPr>
          <a:xfrm>
            <a:off x="4809335" y="8388753"/>
            <a:ext cx="1183417" cy="1183417"/>
            <a:chOff x="0" y="0"/>
            <a:chExt cx="812800" cy="812800"/>
          </a:xfrm>
        </p:grpSpPr>
        <p:sp>
          <p:nvSpPr>
            <p:cNvPr id="44" name="Freeform 44">
              <a:extLst>
                <a:ext uri="{FF2B5EF4-FFF2-40B4-BE49-F238E27FC236}">
                  <a16:creationId xmlns:a16="http://schemas.microsoft.com/office/drawing/2014/main" id="{6F9E5D08-1547-A76F-1C69-30B3025F5A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FD9FDBC2-E733-A177-9902-6E987C46C69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4" name="TextBox 1">
            <a:extLst>
              <a:ext uri="{FF2B5EF4-FFF2-40B4-BE49-F238E27FC236}">
                <a16:creationId xmlns:a16="http://schemas.microsoft.com/office/drawing/2014/main" id="{8445EAC2-1964-6521-D5D8-936604E330DA}"/>
              </a:ext>
            </a:extLst>
          </p:cNvPr>
          <p:cNvSpPr txBox="1"/>
          <p:nvPr/>
        </p:nvSpPr>
        <p:spPr>
          <a:xfrm>
            <a:off x="2481666" y="2073251"/>
            <a:ext cx="13005209" cy="6370975"/>
          </a:xfrm>
          <a:prstGeom prst="rect">
            <a:avLst/>
          </a:prstGeom>
          <a:noFill/>
          <a:ln>
            <a:solidFill>
              <a:schemeClr val="accent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Scenario 1b: Homework assigned by teacher</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Arif gets a </a:t>
            </a:r>
            <a:r>
              <a:rPr lang="en-US" sz="2400" b="1" dirty="0">
                <a:latin typeface="Times New Roman" panose="02020603050405020304" pitchFamily="18" charset="0"/>
                <a:cs typeface="Times New Roman" panose="02020603050405020304" pitchFamily="18" charset="0"/>
              </a:rPr>
              <a:t>notification</a:t>
            </a:r>
            <a:r>
              <a:rPr lang="en-US" sz="2400" dirty="0">
                <a:latin typeface="Times New Roman" panose="02020603050405020304" pitchFamily="18" charset="0"/>
                <a:cs typeface="Times New Roman" panose="02020603050405020304" pitchFamily="18" charset="0"/>
              </a:rPr>
              <a:t> on his tablet saying his teacher has given homework on shapes.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 opens the app and sees the homework questions.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Arif chooses </a:t>
            </a:r>
            <a:r>
              <a:rPr lang="en-US" sz="2400" b="1" dirty="0">
                <a:latin typeface="Times New Roman" panose="02020603050405020304" pitchFamily="18" charset="0"/>
                <a:cs typeface="Times New Roman" panose="02020603050405020304" pitchFamily="18" charset="0"/>
              </a:rPr>
              <a:t>“Remind me later”</a:t>
            </a:r>
            <a:r>
              <a:rPr lang="en-US" sz="2400" dirty="0">
                <a:latin typeface="Times New Roman" panose="02020603050405020304" pitchFamily="18" charset="0"/>
                <a:cs typeface="Times New Roman" panose="02020603050405020304" pitchFamily="18" charset="0"/>
              </a:rPr>
              <a:t> because he wants to play first.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After some time, the app reminds him again.</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 completes the homework, and the result is </a:t>
            </a:r>
            <a:r>
              <a:rPr lang="en-US" sz="2400" b="1" dirty="0">
                <a:latin typeface="Times New Roman" panose="02020603050405020304" pitchFamily="18" charset="0"/>
                <a:cs typeface="Times New Roman" panose="02020603050405020304" pitchFamily="18" charset="0"/>
              </a:rPr>
              <a:t>automatically sent to the teacher</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His parent can also see his progress in their account.</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Scenario 1c: Learning with low internet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Sometimes Arif’s internet is slow.</a:t>
            </a:r>
          </a:p>
          <a:p>
            <a:pPr marL="342900" indent="-342900">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allows him to </a:t>
            </a:r>
            <a:r>
              <a:rPr lang="en-US" sz="2400" b="1" dirty="0">
                <a:latin typeface="Times New Roman" panose="02020603050405020304" pitchFamily="18" charset="0"/>
                <a:cs typeface="Times New Roman" panose="02020603050405020304" pitchFamily="18" charset="0"/>
              </a:rPr>
              <a:t>download lessons earlier</a:t>
            </a:r>
            <a:r>
              <a:rPr lang="en-US" sz="2400" dirty="0">
                <a:latin typeface="Times New Roman" panose="02020603050405020304" pitchFamily="18" charset="0"/>
                <a:cs typeface="Times New Roman" panose="02020603050405020304" pitchFamily="18" charset="0"/>
              </a:rPr>
              <a:t> when internet is available.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Arif studies and solves problems </a:t>
            </a:r>
            <a:r>
              <a:rPr lang="en-US" sz="2400" b="1" dirty="0">
                <a:latin typeface="Times New Roman" panose="02020603050405020304" pitchFamily="18" charset="0"/>
                <a:cs typeface="Times New Roman" panose="02020603050405020304" pitchFamily="18" charset="0"/>
              </a:rPr>
              <a:t>without internet</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the internet comes back, the app </a:t>
            </a:r>
            <a:r>
              <a:rPr lang="en-US" sz="2400" b="1" dirty="0">
                <a:latin typeface="Times New Roman" panose="02020603050405020304" pitchFamily="18" charset="0"/>
                <a:cs typeface="Times New Roman" panose="02020603050405020304" pitchFamily="18" charset="0"/>
              </a:rPr>
              <a:t>automatically updates</a:t>
            </a:r>
            <a:r>
              <a:rPr lang="en-US" sz="2400" dirty="0">
                <a:latin typeface="Times New Roman" panose="02020603050405020304" pitchFamily="18" charset="0"/>
                <a:cs typeface="Times New Roman" panose="02020603050405020304" pitchFamily="18" charset="0"/>
              </a:rPr>
              <a:t> his progress and rewards.</a:t>
            </a:r>
          </a:p>
          <a:p>
            <a:endParaRPr lang="en-US" sz="2400" b="1"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37743310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D7BB9-943F-04F1-F051-51C45979F37E}"/>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B7C81F4A-585E-626B-013E-A71B6FB5D534}"/>
              </a:ext>
            </a:extLst>
          </p:cNvPr>
          <p:cNvSpPr txBox="1"/>
          <p:nvPr/>
        </p:nvSpPr>
        <p:spPr>
          <a:xfrm>
            <a:off x="5045084" y="297878"/>
            <a:ext cx="8197831" cy="1107996"/>
          </a:xfrm>
          <a:prstGeom prst="rect">
            <a:avLst/>
          </a:prstGeom>
        </p:spPr>
        <p:txBody>
          <a:bodyPr wrap="square" lIns="0" tIns="0" rIns="0" bIns="0" rtlCol="0" anchor="t">
            <a:spAutoFit/>
          </a:bodyPr>
          <a:lstStyle/>
          <a:p>
            <a:pPr algn="ctr"/>
            <a:r>
              <a:rPr lang="en-US" sz="7200" spc="-93" dirty="0">
                <a:solidFill>
                  <a:srgbClr val="000000"/>
                </a:solidFill>
                <a:latin typeface="Times New Roman"/>
                <a:ea typeface="Calibri"/>
                <a:cs typeface="Calibri"/>
              </a:rPr>
              <a:t>Project Scenarios</a:t>
            </a:r>
          </a:p>
        </p:txBody>
      </p:sp>
      <p:grpSp>
        <p:nvGrpSpPr>
          <p:cNvPr id="4" name="Group 4">
            <a:extLst>
              <a:ext uri="{FF2B5EF4-FFF2-40B4-BE49-F238E27FC236}">
                <a16:creationId xmlns:a16="http://schemas.microsoft.com/office/drawing/2014/main" id="{E5F57A9D-72B3-FF95-D93A-56D994A17220}"/>
              </a:ext>
            </a:extLst>
          </p:cNvPr>
          <p:cNvGrpSpPr/>
          <p:nvPr/>
        </p:nvGrpSpPr>
        <p:grpSpPr>
          <a:xfrm>
            <a:off x="15493983" y="7314585"/>
            <a:ext cx="5578401" cy="5578401"/>
            <a:chOff x="0" y="0"/>
            <a:chExt cx="812800" cy="812800"/>
          </a:xfrm>
        </p:grpSpPr>
        <p:sp>
          <p:nvSpPr>
            <p:cNvPr id="5" name="Freeform 5">
              <a:extLst>
                <a:ext uri="{FF2B5EF4-FFF2-40B4-BE49-F238E27FC236}">
                  <a16:creationId xmlns:a16="http://schemas.microsoft.com/office/drawing/2014/main" id="{D4D582CF-3A42-D872-F1BF-A7CA47BC32A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2753CD3A-02CA-C519-FCDA-65980BE6916F}"/>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CFB231BE-69AA-6C5A-DD1B-7953D8618255}"/>
              </a:ext>
            </a:extLst>
          </p:cNvPr>
          <p:cNvGrpSpPr/>
          <p:nvPr/>
        </p:nvGrpSpPr>
        <p:grpSpPr>
          <a:xfrm>
            <a:off x="17295535" y="9114518"/>
            <a:ext cx="452472" cy="452472"/>
            <a:chOff x="0" y="0"/>
            <a:chExt cx="812800" cy="812800"/>
          </a:xfrm>
        </p:grpSpPr>
        <p:sp>
          <p:nvSpPr>
            <p:cNvPr id="8" name="Freeform 8">
              <a:extLst>
                <a:ext uri="{FF2B5EF4-FFF2-40B4-BE49-F238E27FC236}">
                  <a16:creationId xmlns:a16="http://schemas.microsoft.com/office/drawing/2014/main" id="{0CB0DCCD-2EB2-FF9A-69C5-1A140518BF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98394B2E-EDF3-B765-AD2C-F8D64596CBA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11A8AC2B-D46C-C4EE-3BA9-45566FAE5D96}"/>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8DC7173C-0DB5-939B-0BD8-72EBFC064DE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1BE9C9AF-DFAE-AC1B-804C-261BD6A6393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28F140D9-0074-C24C-D9AA-771E975C6380}"/>
              </a:ext>
            </a:extLst>
          </p:cNvPr>
          <p:cNvGrpSpPr/>
          <p:nvPr/>
        </p:nvGrpSpPr>
        <p:grpSpPr>
          <a:xfrm>
            <a:off x="12663378" y="8519382"/>
            <a:ext cx="1183417" cy="1183417"/>
            <a:chOff x="0" y="0"/>
            <a:chExt cx="812800" cy="812800"/>
          </a:xfrm>
        </p:grpSpPr>
        <p:sp>
          <p:nvSpPr>
            <p:cNvPr id="44" name="Freeform 44">
              <a:extLst>
                <a:ext uri="{FF2B5EF4-FFF2-40B4-BE49-F238E27FC236}">
                  <a16:creationId xmlns:a16="http://schemas.microsoft.com/office/drawing/2014/main" id="{4E6CC2A9-37DD-5975-EF91-0942A16F44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25884BEA-1C9E-AA25-E1E2-26E0466D716C}"/>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4" name="TextBox 1">
            <a:extLst>
              <a:ext uri="{FF2B5EF4-FFF2-40B4-BE49-F238E27FC236}">
                <a16:creationId xmlns:a16="http://schemas.microsoft.com/office/drawing/2014/main" id="{C16C3F95-EC6B-AC23-D887-7324592ECAC0}"/>
              </a:ext>
            </a:extLst>
          </p:cNvPr>
          <p:cNvSpPr txBox="1"/>
          <p:nvPr/>
        </p:nvSpPr>
        <p:spPr>
          <a:xfrm>
            <a:off x="2115823" y="1528996"/>
            <a:ext cx="14088544" cy="8586966"/>
          </a:xfrm>
          <a:prstGeom prst="rect">
            <a:avLst/>
          </a:prstGeom>
          <a:noFill/>
          <a:ln>
            <a:solidFill>
              <a:schemeClr val="accent1"/>
            </a:solidFill>
          </a:ln>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2: Secondary Student (Class 6–10): Sara Improves Algebra Skills</a:t>
            </a:r>
          </a:p>
          <a:p>
            <a:pPr>
              <a:buNone/>
            </a:pPr>
            <a:r>
              <a:rPr lang="en-US" sz="2400" b="1" dirty="0">
                <a:latin typeface="Times New Roman" panose="02020603050405020304" pitchFamily="18" charset="0"/>
                <a:cs typeface="Times New Roman" panose="02020603050405020304" pitchFamily="18" charset="0"/>
              </a:rPr>
              <a:t>Context: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Sara is a Class 8 student. She studies math on her mobile phone to prepare for school exams and understand difficult topics better.</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2a: Step-by-step problem solving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Sara opens </a:t>
            </a:r>
            <a:r>
              <a:rPr lang="en-US" sz="2400" b="1"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and logs in.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She selects </a:t>
            </a:r>
            <a:r>
              <a:rPr lang="en-US" sz="2400" b="1" dirty="0">
                <a:latin typeface="Times New Roman" panose="02020603050405020304" pitchFamily="18" charset="0"/>
                <a:cs typeface="Times New Roman" panose="02020603050405020304" pitchFamily="18" charset="0"/>
              </a:rPr>
              <a:t>Class 8 → Algebra → Linear Equations</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app shows a </a:t>
            </a:r>
            <a:r>
              <a:rPr lang="en-US" sz="2400" b="1" dirty="0">
                <a:latin typeface="Times New Roman" panose="02020603050405020304" pitchFamily="18" charset="0"/>
                <a:cs typeface="Times New Roman" panose="02020603050405020304" pitchFamily="18" charset="0"/>
              </a:rPr>
              <a:t>short video</a:t>
            </a:r>
            <a:r>
              <a:rPr lang="en-US" sz="2400" dirty="0">
                <a:latin typeface="Times New Roman" panose="02020603050405020304" pitchFamily="18" charset="0"/>
                <a:cs typeface="Times New Roman" panose="02020603050405020304" pitchFamily="18" charset="0"/>
              </a:rPr>
              <a:t> explaining the concept in Bangla.</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Sara tries a practice problem.</a:t>
            </a:r>
          </a:p>
          <a:p>
            <a:pPr>
              <a:buFont typeface="Arial" panose="020B0604020202020204" pitchFamily="34" charset="0"/>
              <a:buChar char="•"/>
            </a:pP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solves the problem </a:t>
            </a:r>
            <a:r>
              <a:rPr lang="en-US" sz="2400" b="1" dirty="0">
                <a:latin typeface="Times New Roman" panose="02020603050405020304" pitchFamily="18" charset="0"/>
                <a:cs typeface="Times New Roman" panose="02020603050405020304" pitchFamily="18" charset="0"/>
              </a:rPr>
              <a:t>step by step</a:t>
            </a:r>
            <a:r>
              <a:rPr lang="en-US" sz="2400" dirty="0">
                <a:latin typeface="Times New Roman" panose="02020603050405020304" pitchFamily="18" charset="0"/>
                <a:cs typeface="Times New Roman" panose="02020603050405020304" pitchFamily="18" charset="0"/>
              </a:rPr>
              <a:t>, showing how each line is derived.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Sara makes a mistake, the app highlights </a:t>
            </a:r>
            <a:r>
              <a:rPr lang="en-US" sz="2400" b="1" dirty="0">
                <a:latin typeface="Times New Roman" panose="02020603050405020304" pitchFamily="18" charset="0"/>
                <a:cs typeface="Times New Roman" panose="02020603050405020304" pitchFamily="18" charset="0"/>
              </a:rPr>
              <a:t>where she went wrong</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She retries and answers correctly, gaining confidence.</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2b: Exam preparation and progress tracking</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Sara switches to </a:t>
            </a:r>
            <a:r>
              <a:rPr lang="en-US" sz="2400" b="1" dirty="0">
                <a:latin typeface="Times New Roman" panose="02020603050405020304" pitchFamily="18" charset="0"/>
                <a:cs typeface="Times New Roman" panose="02020603050405020304" pitchFamily="18" charset="0"/>
              </a:rPr>
              <a:t>Exam Mode</a:t>
            </a:r>
            <a:r>
              <a:rPr lang="en-US" sz="2400" dirty="0">
                <a:latin typeface="Times New Roman" panose="02020603050405020304" pitchFamily="18" charset="0"/>
                <a:cs typeface="Times New Roman" panose="02020603050405020304" pitchFamily="18" charset="0"/>
              </a:rPr>
              <a:t> before a class test.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She solves timed questions with </a:t>
            </a:r>
            <a:r>
              <a:rPr lang="en-US" sz="2400" b="1" dirty="0">
                <a:latin typeface="Times New Roman" panose="02020603050405020304" pitchFamily="18" charset="0"/>
                <a:cs typeface="Times New Roman" panose="02020603050405020304" pitchFamily="18" charset="0"/>
              </a:rPr>
              <a:t>easy, medium, and hard levels</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After finishing, </a:t>
            </a: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shows her </a:t>
            </a:r>
            <a:r>
              <a:rPr lang="en-US" sz="2400" b="1" dirty="0">
                <a:latin typeface="Times New Roman" panose="02020603050405020304" pitchFamily="18" charset="0"/>
                <a:cs typeface="Times New Roman" panose="02020603050405020304" pitchFamily="18" charset="0"/>
              </a:rPr>
              <a:t>accuracy, weak areas, and suggestions</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She revises weak topics using recommended videos and visuals.</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550458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13356-99FC-86A8-0B3F-4468074F3C10}"/>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36B5E97-A0B4-C723-C768-BC102992AE21}"/>
              </a:ext>
            </a:extLst>
          </p:cNvPr>
          <p:cNvSpPr txBox="1"/>
          <p:nvPr/>
        </p:nvSpPr>
        <p:spPr>
          <a:xfrm>
            <a:off x="5051458" y="544151"/>
            <a:ext cx="8197831" cy="1107996"/>
          </a:xfrm>
          <a:prstGeom prst="rect">
            <a:avLst/>
          </a:prstGeom>
        </p:spPr>
        <p:txBody>
          <a:bodyPr wrap="square" lIns="0" tIns="0" rIns="0" bIns="0" rtlCol="0" anchor="t">
            <a:spAutoFit/>
          </a:bodyPr>
          <a:lstStyle/>
          <a:p>
            <a:pPr algn="ctr"/>
            <a:r>
              <a:rPr lang="en-US" sz="7200" spc="-93" dirty="0">
                <a:solidFill>
                  <a:srgbClr val="000000"/>
                </a:solidFill>
                <a:latin typeface="Times New Roman"/>
                <a:ea typeface="Calibri"/>
                <a:cs typeface="Calibri"/>
              </a:rPr>
              <a:t>Project Scenarios</a:t>
            </a:r>
          </a:p>
        </p:txBody>
      </p:sp>
      <p:grpSp>
        <p:nvGrpSpPr>
          <p:cNvPr id="4" name="Group 4">
            <a:extLst>
              <a:ext uri="{FF2B5EF4-FFF2-40B4-BE49-F238E27FC236}">
                <a16:creationId xmlns:a16="http://schemas.microsoft.com/office/drawing/2014/main" id="{9A447EE5-D744-3EE6-4E68-D8875EF2B538}"/>
              </a:ext>
            </a:extLst>
          </p:cNvPr>
          <p:cNvGrpSpPr/>
          <p:nvPr/>
        </p:nvGrpSpPr>
        <p:grpSpPr>
          <a:xfrm>
            <a:off x="15493983" y="7314585"/>
            <a:ext cx="5578401" cy="5578401"/>
            <a:chOff x="0" y="0"/>
            <a:chExt cx="812800" cy="812800"/>
          </a:xfrm>
        </p:grpSpPr>
        <p:sp>
          <p:nvSpPr>
            <p:cNvPr id="5" name="Freeform 5">
              <a:extLst>
                <a:ext uri="{FF2B5EF4-FFF2-40B4-BE49-F238E27FC236}">
                  <a16:creationId xmlns:a16="http://schemas.microsoft.com/office/drawing/2014/main" id="{7ED14068-0282-8515-7998-02E35C3257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CF55E31A-E86F-62F1-BA7F-CEDDCE2A451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A6BE7492-3C8B-A64E-52CE-D2292DF5D45F}"/>
              </a:ext>
            </a:extLst>
          </p:cNvPr>
          <p:cNvGrpSpPr/>
          <p:nvPr/>
        </p:nvGrpSpPr>
        <p:grpSpPr>
          <a:xfrm>
            <a:off x="17295535" y="9114518"/>
            <a:ext cx="452472" cy="452472"/>
            <a:chOff x="0" y="0"/>
            <a:chExt cx="812800" cy="812800"/>
          </a:xfrm>
        </p:grpSpPr>
        <p:sp>
          <p:nvSpPr>
            <p:cNvPr id="8" name="Freeform 8">
              <a:extLst>
                <a:ext uri="{FF2B5EF4-FFF2-40B4-BE49-F238E27FC236}">
                  <a16:creationId xmlns:a16="http://schemas.microsoft.com/office/drawing/2014/main" id="{C24992E0-B3BF-7FB8-A97B-2E2971EE118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B6AC7688-2521-69B5-037F-3D5863112E5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0E671A7F-4CC0-5027-212B-B63E008E0524}"/>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F0ED7070-5090-A2B5-5696-36F8A299C1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1C69757E-B95F-BC65-76BB-4D002843E0D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1E50D1C8-F040-21D6-54AF-BDA3C4BA20FE}"/>
              </a:ext>
            </a:extLst>
          </p:cNvPr>
          <p:cNvGrpSpPr/>
          <p:nvPr/>
        </p:nvGrpSpPr>
        <p:grpSpPr>
          <a:xfrm>
            <a:off x="12663378" y="8519382"/>
            <a:ext cx="1183417" cy="1183417"/>
            <a:chOff x="0" y="0"/>
            <a:chExt cx="812800" cy="812800"/>
          </a:xfrm>
        </p:grpSpPr>
        <p:sp>
          <p:nvSpPr>
            <p:cNvPr id="44" name="Freeform 44">
              <a:extLst>
                <a:ext uri="{FF2B5EF4-FFF2-40B4-BE49-F238E27FC236}">
                  <a16:creationId xmlns:a16="http://schemas.microsoft.com/office/drawing/2014/main" id="{EBC630C1-E189-A4D2-3CC0-9F831A6F3CD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329C4368-CF9C-882F-FFFB-704FE34FFFD1}"/>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3" name="TextBox 12">
            <a:extLst>
              <a:ext uri="{FF2B5EF4-FFF2-40B4-BE49-F238E27FC236}">
                <a16:creationId xmlns:a16="http://schemas.microsoft.com/office/drawing/2014/main" id="{94E1507C-27B1-DBAB-7A2F-AB0797A53D64}"/>
              </a:ext>
            </a:extLst>
          </p:cNvPr>
          <p:cNvSpPr txBox="1"/>
          <p:nvPr/>
        </p:nvSpPr>
        <p:spPr>
          <a:xfrm>
            <a:off x="1509467" y="1818472"/>
            <a:ext cx="14507491" cy="4893647"/>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3: Higher Secondary Student (Class 11–12): Rafi Understands Trigonometry</a:t>
            </a:r>
          </a:p>
          <a:p>
            <a:pPr>
              <a:buNone/>
            </a:pPr>
            <a:r>
              <a:rPr lang="en-US" sz="2400" b="1" dirty="0">
                <a:latin typeface="Times New Roman" panose="02020603050405020304" pitchFamily="18" charset="0"/>
                <a:cs typeface="Times New Roman" panose="02020603050405020304" pitchFamily="18" charset="0"/>
              </a:rPr>
              <a:t>Context: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Rafi is an HSC student preparing for board exams and admission tests. He struggles with understanding where formulas come from.</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3a: Conceptual learning with visualization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Rafi opens </a:t>
            </a:r>
            <a:r>
              <a:rPr lang="en-US" sz="2400" b="1"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and selects </a:t>
            </a:r>
            <a:r>
              <a:rPr lang="en-US" sz="2400" b="1" dirty="0">
                <a:latin typeface="Times New Roman" panose="02020603050405020304" pitchFamily="18" charset="0"/>
                <a:cs typeface="Times New Roman" panose="02020603050405020304" pitchFamily="18" charset="0"/>
              </a:rPr>
              <a:t>Class 11 → Trigonometry → Formula Derivation</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app shows </a:t>
            </a:r>
            <a:r>
              <a:rPr lang="en-US" sz="2400" b="1" dirty="0">
                <a:latin typeface="Times New Roman" panose="02020603050405020304" pitchFamily="18" charset="0"/>
                <a:cs typeface="Times New Roman" panose="02020603050405020304" pitchFamily="18" charset="0"/>
              </a:rPr>
              <a:t>animated diagrams</a:t>
            </a:r>
            <a:r>
              <a:rPr lang="en-US" sz="2400" dirty="0">
                <a:latin typeface="Times New Roman" panose="02020603050405020304" pitchFamily="18" charset="0"/>
                <a:cs typeface="Times New Roman" panose="02020603050405020304" pitchFamily="18" charset="0"/>
              </a:rPr>
              <a:t> explaining how formulas are derived.</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step is explained clearly with </a:t>
            </a:r>
            <a:r>
              <a:rPr lang="en-US" sz="2400" b="1" dirty="0">
                <a:latin typeface="Times New Roman" panose="02020603050405020304" pitchFamily="18" charset="0"/>
                <a:cs typeface="Times New Roman" panose="02020603050405020304" pitchFamily="18" charset="0"/>
              </a:rPr>
              <a:t>visual movement and narration</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Rafi finally understands the logic behind the formulas.</a:t>
            </a:r>
          </a:p>
          <a:p>
            <a:pPr>
              <a:buNone/>
            </a:pP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327772573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C5A25-DACC-5EAC-E797-A5F465E772D3}"/>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814E572-46A2-6094-16D2-65FBB3B56812}"/>
              </a:ext>
            </a:extLst>
          </p:cNvPr>
          <p:cNvSpPr txBox="1"/>
          <p:nvPr/>
        </p:nvSpPr>
        <p:spPr>
          <a:xfrm>
            <a:off x="5051458" y="544151"/>
            <a:ext cx="8197831" cy="1107996"/>
          </a:xfrm>
          <a:prstGeom prst="rect">
            <a:avLst/>
          </a:prstGeom>
        </p:spPr>
        <p:txBody>
          <a:bodyPr wrap="square" lIns="0" tIns="0" rIns="0" bIns="0" rtlCol="0" anchor="t">
            <a:spAutoFit/>
          </a:bodyPr>
          <a:lstStyle/>
          <a:p>
            <a:pPr algn="ctr"/>
            <a:r>
              <a:rPr lang="en-US" sz="7200" spc="-93" dirty="0">
                <a:solidFill>
                  <a:srgbClr val="000000"/>
                </a:solidFill>
                <a:latin typeface="Times New Roman"/>
                <a:ea typeface="Calibri"/>
                <a:cs typeface="Calibri"/>
              </a:rPr>
              <a:t>Project Scenarios</a:t>
            </a:r>
          </a:p>
        </p:txBody>
      </p:sp>
      <p:grpSp>
        <p:nvGrpSpPr>
          <p:cNvPr id="4" name="Group 4">
            <a:extLst>
              <a:ext uri="{FF2B5EF4-FFF2-40B4-BE49-F238E27FC236}">
                <a16:creationId xmlns:a16="http://schemas.microsoft.com/office/drawing/2014/main" id="{4910D7E7-164A-E462-B020-847F188B6C63}"/>
              </a:ext>
            </a:extLst>
          </p:cNvPr>
          <p:cNvGrpSpPr/>
          <p:nvPr/>
        </p:nvGrpSpPr>
        <p:grpSpPr>
          <a:xfrm>
            <a:off x="15493983" y="7314585"/>
            <a:ext cx="5578401" cy="5578401"/>
            <a:chOff x="0" y="0"/>
            <a:chExt cx="812800" cy="812800"/>
          </a:xfrm>
        </p:grpSpPr>
        <p:sp>
          <p:nvSpPr>
            <p:cNvPr id="5" name="Freeform 5">
              <a:extLst>
                <a:ext uri="{FF2B5EF4-FFF2-40B4-BE49-F238E27FC236}">
                  <a16:creationId xmlns:a16="http://schemas.microsoft.com/office/drawing/2014/main" id="{F7D2A1F8-74E9-7C95-3583-1F5983EDB5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7A077AEF-9849-B2E1-A0CD-B7B287283F9F}"/>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CA2BBC31-A259-A1D7-10F7-17461C911E74}"/>
              </a:ext>
            </a:extLst>
          </p:cNvPr>
          <p:cNvGrpSpPr/>
          <p:nvPr/>
        </p:nvGrpSpPr>
        <p:grpSpPr>
          <a:xfrm>
            <a:off x="17295535" y="9114518"/>
            <a:ext cx="452472" cy="452472"/>
            <a:chOff x="0" y="0"/>
            <a:chExt cx="812800" cy="812800"/>
          </a:xfrm>
        </p:grpSpPr>
        <p:sp>
          <p:nvSpPr>
            <p:cNvPr id="8" name="Freeform 8">
              <a:extLst>
                <a:ext uri="{FF2B5EF4-FFF2-40B4-BE49-F238E27FC236}">
                  <a16:creationId xmlns:a16="http://schemas.microsoft.com/office/drawing/2014/main" id="{9BED612A-B386-50C4-9624-373E6C5301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D0AD30C8-3AE9-F6BF-60C5-17548DAA5B57}"/>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0A0179F7-B0E2-81D2-14AD-F2F7FB603716}"/>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2511AAB1-B55A-FB2C-36AC-00D65E28B5C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4F3B0227-E802-BAD4-59F7-1C69EBCEAAEA}"/>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C91500E0-7584-C67B-BE7E-B0DD3472AF4E}"/>
              </a:ext>
            </a:extLst>
          </p:cNvPr>
          <p:cNvGrpSpPr/>
          <p:nvPr/>
        </p:nvGrpSpPr>
        <p:grpSpPr>
          <a:xfrm>
            <a:off x="12663378" y="8519382"/>
            <a:ext cx="1183417" cy="1183417"/>
            <a:chOff x="0" y="0"/>
            <a:chExt cx="812800" cy="812800"/>
          </a:xfrm>
        </p:grpSpPr>
        <p:sp>
          <p:nvSpPr>
            <p:cNvPr id="44" name="Freeform 44">
              <a:extLst>
                <a:ext uri="{FF2B5EF4-FFF2-40B4-BE49-F238E27FC236}">
                  <a16:creationId xmlns:a16="http://schemas.microsoft.com/office/drawing/2014/main" id="{BA9092F4-D670-41EC-6F4D-F8CD6B7118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EF5F50C3-B5F8-4B7B-F5B2-ED82BCC395CB}"/>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
        <p:nvSpPr>
          <p:cNvPr id="13" name="TextBox 12">
            <a:extLst>
              <a:ext uri="{FF2B5EF4-FFF2-40B4-BE49-F238E27FC236}">
                <a16:creationId xmlns:a16="http://schemas.microsoft.com/office/drawing/2014/main" id="{A3C0504C-2B52-B221-9CDE-B72FF2C5A537}"/>
              </a:ext>
            </a:extLst>
          </p:cNvPr>
          <p:cNvSpPr txBox="1"/>
          <p:nvPr/>
        </p:nvSpPr>
        <p:spPr>
          <a:xfrm>
            <a:off x="2603750" y="2148256"/>
            <a:ext cx="11739822" cy="4524315"/>
          </a:xfrm>
          <a:prstGeom prst="rect">
            <a:avLst/>
          </a:prstGeom>
          <a:no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3b: Practice with explanation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Rafi solves trigonometry problems.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Instead of only showing the answer, </a:t>
            </a: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shows </a:t>
            </a:r>
            <a:r>
              <a:rPr lang="en-US" sz="2400" b="1" dirty="0">
                <a:latin typeface="Times New Roman" panose="02020603050405020304" pitchFamily="18" charset="0"/>
                <a:cs typeface="Times New Roman" panose="02020603050405020304" pitchFamily="18" charset="0"/>
              </a:rPr>
              <a:t>full derivation steps</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 can pause, replay, or jump to any step.</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helps him remember formulas during exams.</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Scenario 3c: Performance analysis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After practice, </a:t>
            </a:r>
            <a:r>
              <a:rPr lang="en-US" sz="2400" dirty="0" err="1">
                <a:latin typeface="Times New Roman" panose="02020603050405020304" pitchFamily="18" charset="0"/>
                <a:cs typeface="Times New Roman" panose="02020603050405020304" pitchFamily="18" charset="0"/>
              </a:rPr>
              <a:t>Calcure</a:t>
            </a:r>
            <a:r>
              <a:rPr lang="en-US" sz="2400" dirty="0">
                <a:latin typeface="Times New Roman" panose="02020603050405020304" pitchFamily="18" charset="0"/>
                <a:cs typeface="Times New Roman" panose="02020603050405020304" pitchFamily="18" charset="0"/>
              </a:rPr>
              <a:t> shows Rafi a </a:t>
            </a:r>
            <a:r>
              <a:rPr lang="en-US" sz="2400" b="1" dirty="0">
                <a:latin typeface="Times New Roman" panose="02020603050405020304" pitchFamily="18" charset="0"/>
                <a:cs typeface="Times New Roman" panose="02020603050405020304" pitchFamily="18" charset="0"/>
              </a:rPr>
              <a:t>performance summary</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app highlights which formulas he struggles with most.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Rafi follows the suggested lessons and improves steadily.</a:t>
            </a:r>
          </a:p>
          <a:p>
            <a:endParaRPr lang="en-US" sz="2400" dirty="0">
              <a:latin typeface="Times New Roman" panose="02020603050405020304" pitchFamily="18" charset="0"/>
              <a:ea typeface="Calibri"/>
              <a:cs typeface="Times New Roman" panose="02020603050405020304" pitchFamily="18" charset="0"/>
            </a:endParaRPr>
          </a:p>
        </p:txBody>
      </p:sp>
    </p:spTree>
    <p:extLst>
      <p:ext uri="{BB962C8B-B14F-4D97-AF65-F5344CB8AC3E}">
        <p14:creationId xmlns:p14="http://schemas.microsoft.com/office/powerpoint/2010/main" val="9483203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005B9-5D4F-2DA6-3610-B3D90FC53C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FB1CEE-4478-EDD7-9190-31A03B5CE54C}"/>
              </a:ext>
            </a:extLst>
          </p:cNvPr>
          <p:cNvSpPr/>
          <p:nvPr/>
        </p:nvSpPr>
        <p:spPr>
          <a:xfrm>
            <a:off x="17819143" y="3430630"/>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9" name="Freeform 9">
            <a:extLst>
              <a:ext uri="{FF2B5EF4-FFF2-40B4-BE49-F238E27FC236}">
                <a16:creationId xmlns:a16="http://schemas.microsoft.com/office/drawing/2014/main" id="{E15CCFD6-26A2-ED95-80A0-AA4B0F506CBF}"/>
              </a:ext>
            </a:extLst>
          </p:cNvPr>
          <p:cNvSpPr/>
          <p:nvPr/>
        </p:nvSpPr>
        <p:spPr>
          <a:xfrm>
            <a:off x="-2552492" y="-691715"/>
            <a:ext cx="3299321" cy="4114800"/>
          </a:xfrm>
          <a:custGeom>
            <a:avLst/>
            <a:gdLst/>
            <a:ahLst/>
            <a:cxnLst/>
            <a:rect l="l" t="t" r="r" b="b"/>
            <a:pathLst>
              <a:path w="3299321" h="4114800">
                <a:moveTo>
                  <a:pt x="0" y="0"/>
                </a:moveTo>
                <a:lnTo>
                  <a:pt x="3299321" y="0"/>
                </a:lnTo>
                <a:lnTo>
                  <a:pt x="329932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pic>
        <p:nvPicPr>
          <p:cNvPr id="5" name="Picture 4">
            <a:extLst>
              <a:ext uri="{FF2B5EF4-FFF2-40B4-BE49-F238E27FC236}">
                <a16:creationId xmlns:a16="http://schemas.microsoft.com/office/drawing/2014/main" id="{3AA3D7F4-BDD8-58C5-5C60-338725AF3A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7854660" cy="10287000"/>
          </a:xfrm>
          <a:prstGeom prst="rect">
            <a:avLst/>
          </a:prstGeom>
        </p:spPr>
      </p:pic>
      <p:sp>
        <p:nvSpPr>
          <p:cNvPr id="6" name="TextBox 5">
            <a:extLst>
              <a:ext uri="{FF2B5EF4-FFF2-40B4-BE49-F238E27FC236}">
                <a16:creationId xmlns:a16="http://schemas.microsoft.com/office/drawing/2014/main" id="{AD9D7731-9786-00B5-E1B0-513C2A47F7A3}"/>
              </a:ext>
            </a:extLst>
          </p:cNvPr>
          <p:cNvSpPr txBox="1"/>
          <p:nvPr/>
        </p:nvSpPr>
        <p:spPr>
          <a:xfrm>
            <a:off x="3882758" y="7168643"/>
            <a:ext cx="2263209" cy="707886"/>
          </a:xfrm>
          <a:prstGeom prst="rect">
            <a:avLst/>
          </a:prstGeom>
          <a:noFill/>
          <a:ln w="6350">
            <a:solidFill>
              <a:schemeClr val="tx1"/>
            </a:solidFill>
          </a:ln>
        </p:spPr>
        <p:txBody>
          <a:bodyPr wrap="square" rtlCol="0">
            <a:spAutoFit/>
          </a:bodyPr>
          <a:lstStyle/>
          <a:p>
            <a:r>
              <a:rPr lang="en-US" sz="4000" dirty="0">
                <a:latin typeface="Times New Roman" panose="02020603050405020304" pitchFamily="18" charset="0"/>
                <a:cs typeface="Times New Roman" panose="02020603050405020304" pitchFamily="18" charset="0"/>
              </a:rPr>
              <a:t>LEVEL 0</a:t>
            </a:r>
          </a:p>
        </p:txBody>
      </p:sp>
      <p:sp>
        <p:nvSpPr>
          <p:cNvPr id="3" name="TextBox 2">
            <a:extLst>
              <a:ext uri="{FF2B5EF4-FFF2-40B4-BE49-F238E27FC236}">
                <a16:creationId xmlns:a16="http://schemas.microsoft.com/office/drawing/2014/main" id="{22D17EBF-B582-E167-35E1-9A348D928981}"/>
              </a:ext>
            </a:extLst>
          </p:cNvPr>
          <p:cNvSpPr txBox="1"/>
          <p:nvPr/>
        </p:nvSpPr>
        <p:spPr>
          <a:xfrm>
            <a:off x="3028318" y="2056528"/>
            <a:ext cx="4376823" cy="707886"/>
          </a:xfrm>
          <a:prstGeom prst="rect">
            <a:avLst/>
          </a:prstGeom>
          <a:noFill/>
          <a:ln w="6350">
            <a:solidFill>
              <a:schemeClr val="tx1"/>
            </a:solidFill>
          </a:ln>
        </p:spPr>
        <p:txBody>
          <a:bodyPr wrap="square" rtlCol="0">
            <a:spAutoFit/>
          </a:bodyPr>
          <a:lstStyle/>
          <a:p>
            <a:r>
              <a:rPr lang="en-US" sz="4000" dirty="0">
                <a:latin typeface="Times New Roman" panose="02020603050405020304" pitchFamily="18" charset="0"/>
                <a:cs typeface="Times New Roman" panose="02020603050405020304" pitchFamily="18" charset="0"/>
              </a:rPr>
              <a:t>Data Flow Diagram</a:t>
            </a:r>
          </a:p>
        </p:txBody>
      </p:sp>
    </p:spTree>
    <p:extLst>
      <p:ext uri="{BB962C8B-B14F-4D97-AF65-F5344CB8AC3E}">
        <p14:creationId xmlns:p14="http://schemas.microsoft.com/office/powerpoint/2010/main" val="216101053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AABD6-A7BE-81CB-C2B0-876E5E87FE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7152C1B-7230-89D2-B759-E0F5729D7DD8}"/>
              </a:ext>
            </a:extLst>
          </p:cNvPr>
          <p:cNvSpPr txBox="1"/>
          <p:nvPr/>
        </p:nvSpPr>
        <p:spPr>
          <a:xfrm>
            <a:off x="6726284" y="9228666"/>
            <a:ext cx="5898336" cy="584775"/>
          </a:xfrm>
          <a:prstGeom prst="rect">
            <a:avLst/>
          </a:prstGeom>
          <a:noFill/>
          <a:ln w="6350">
            <a:solidFill>
              <a:schemeClr val="tx1"/>
            </a:solidFill>
          </a:ln>
        </p:spPr>
        <p:txBody>
          <a:bodyPr wrap="square" rtlCol="0">
            <a:spAutoFit/>
          </a:bodyPr>
          <a:lstStyle/>
          <a:p>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Use-Case Diagram for “</a:t>
            </a:r>
            <a:r>
              <a:rPr lang="en-US" sz="3200" dirty="0" err="1">
                <a:latin typeface="Times New Roman" panose="02020603050405020304" pitchFamily="18" charset="0"/>
                <a:cs typeface="Times New Roman" panose="02020603050405020304" pitchFamily="18" charset="0"/>
              </a:rPr>
              <a:t>Calcure</a:t>
            </a:r>
            <a:r>
              <a:rPr lang="en-US" sz="32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78764B5-CC22-993C-9B0E-5D663F7137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8133" y="280219"/>
            <a:ext cx="13936134" cy="8948447"/>
          </a:xfrm>
          <a:prstGeom prst="rect">
            <a:avLst/>
          </a:prstGeom>
        </p:spPr>
      </p:pic>
    </p:spTree>
    <p:extLst>
      <p:ext uri="{BB962C8B-B14F-4D97-AF65-F5344CB8AC3E}">
        <p14:creationId xmlns:p14="http://schemas.microsoft.com/office/powerpoint/2010/main" val="32987475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67EE1-7680-9626-F710-66B69CCD178C}"/>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21E5771C-77AB-0BAE-D57A-2F799B67F23C}"/>
              </a:ext>
            </a:extLst>
          </p:cNvPr>
          <p:cNvGrpSpPr/>
          <p:nvPr/>
        </p:nvGrpSpPr>
        <p:grpSpPr>
          <a:xfrm>
            <a:off x="-2222517" y="7494200"/>
            <a:ext cx="5578401" cy="5578401"/>
            <a:chOff x="0" y="0"/>
            <a:chExt cx="812800" cy="812800"/>
          </a:xfrm>
        </p:grpSpPr>
        <p:sp>
          <p:nvSpPr>
            <p:cNvPr id="5" name="Freeform 5">
              <a:extLst>
                <a:ext uri="{FF2B5EF4-FFF2-40B4-BE49-F238E27FC236}">
                  <a16:creationId xmlns:a16="http://schemas.microsoft.com/office/drawing/2014/main" id="{C343D5E2-EC4A-5094-BC7A-5D58DDB6615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262B2217-05F9-8284-CDAD-FCB52B3E9F5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AA2AD126-3F01-98C7-80C3-FAD4F072249F}"/>
              </a:ext>
            </a:extLst>
          </p:cNvPr>
          <p:cNvGrpSpPr/>
          <p:nvPr/>
        </p:nvGrpSpPr>
        <p:grpSpPr>
          <a:xfrm>
            <a:off x="722035" y="9130847"/>
            <a:ext cx="452472" cy="452472"/>
            <a:chOff x="0" y="0"/>
            <a:chExt cx="812800" cy="812800"/>
          </a:xfrm>
        </p:grpSpPr>
        <p:sp>
          <p:nvSpPr>
            <p:cNvPr id="8" name="Freeform 8">
              <a:extLst>
                <a:ext uri="{FF2B5EF4-FFF2-40B4-BE49-F238E27FC236}">
                  <a16:creationId xmlns:a16="http://schemas.microsoft.com/office/drawing/2014/main" id="{EE6EAD3B-6591-68A7-65FD-0C55EE141E3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B9FBF8A4-BF41-31A7-3E94-E88DA03DE3B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423F095D-AEA3-2A86-1993-CD4552379A47}"/>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8EAF2AA3-1AE5-A951-8DBE-1CF7FA794FB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6E3DD3A6-4722-0779-DEDC-D776DF89C7DA}"/>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09DDA740-B8D3-8AE1-8765-77AFFF14077E}"/>
              </a:ext>
            </a:extLst>
          </p:cNvPr>
          <p:cNvGrpSpPr/>
          <p:nvPr/>
        </p:nvGrpSpPr>
        <p:grpSpPr>
          <a:xfrm>
            <a:off x="4809335" y="8388753"/>
            <a:ext cx="1183417" cy="1183417"/>
            <a:chOff x="0" y="0"/>
            <a:chExt cx="812800" cy="812800"/>
          </a:xfrm>
        </p:grpSpPr>
        <p:sp>
          <p:nvSpPr>
            <p:cNvPr id="44" name="Freeform 44">
              <a:extLst>
                <a:ext uri="{FF2B5EF4-FFF2-40B4-BE49-F238E27FC236}">
                  <a16:creationId xmlns:a16="http://schemas.microsoft.com/office/drawing/2014/main" id="{48EB4B30-297A-D212-D40F-245E4E927B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C3505991-DB4E-DEA5-0676-00B4E3F3A9BC}"/>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pic>
        <p:nvPicPr>
          <p:cNvPr id="3" name="Picture 2">
            <a:extLst>
              <a:ext uri="{FF2B5EF4-FFF2-40B4-BE49-F238E27FC236}">
                <a16:creationId xmlns:a16="http://schemas.microsoft.com/office/drawing/2014/main" id="{D4E29051-FEB7-9B16-0B00-C1AF2E5C1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608" y="1038937"/>
            <a:ext cx="10731926" cy="9113720"/>
          </a:xfrm>
          <a:prstGeom prst="rect">
            <a:avLst/>
          </a:prstGeom>
        </p:spPr>
      </p:pic>
      <p:sp>
        <p:nvSpPr>
          <p:cNvPr id="2" name="TextBox 1">
            <a:extLst>
              <a:ext uri="{FF2B5EF4-FFF2-40B4-BE49-F238E27FC236}">
                <a16:creationId xmlns:a16="http://schemas.microsoft.com/office/drawing/2014/main" id="{BC610B33-594E-FAD9-2D59-015AF58CD615}"/>
              </a:ext>
            </a:extLst>
          </p:cNvPr>
          <p:cNvSpPr txBox="1"/>
          <p:nvPr/>
        </p:nvSpPr>
        <p:spPr>
          <a:xfrm>
            <a:off x="967046" y="3008369"/>
            <a:ext cx="5578401" cy="523220"/>
          </a:xfrm>
          <a:prstGeom prst="rect">
            <a:avLst/>
          </a:prstGeom>
          <a:noFill/>
          <a:ln w="6350">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Activity diagram for “View tutorial” </a:t>
            </a:r>
          </a:p>
        </p:txBody>
      </p:sp>
    </p:spTree>
    <p:extLst>
      <p:ext uri="{BB962C8B-B14F-4D97-AF65-F5344CB8AC3E}">
        <p14:creationId xmlns:p14="http://schemas.microsoft.com/office/powerpoint/2010/main" val="4736638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DE260-A600-5FC6-BD69-67A67DBBF208}"/>
            </a:ext>
          </a:extLst>
        </p:cNvPr>
        <p:cNvGrpSpPr/>
        <p:nvPr/>
      </p:nvGrpSpPr>
      <p:grpSpPr>
        <a:xfrm>
          <a:off x="0" y="0"/>
          <a:ext cx="0" cy="0"/>
          <a:chOff x="0" y="0"/>
          <a:chExt cx="0" cy="0"/>
        </a:xfrm>
      </p:grpSpPr>
      <p:grpSp>
        <p:nvGrpSpPr>
          <p:cNvPr id="4" name="Group 4">
            <a:extLst>
              <a:ext uri="{FF2B5EF4-FFF2-40B4-BE49-F238E27FC236}">
                <a16:creationId xmlns:a16="http://schemas.microsoft.com/office/drawing/2014/main" id="{C71DB736-C70B-A65C-FF51-A09F1633A498}"/>
              </a:ext>
            </a:extLst>
          </p:cNvPr>
          <p:cNvGrpSpPr/>
          <p:nvPr/>
        </p:nvGrpSpPr>
        <p:grpSpPr>
          <a:xfrm>
            <a:off x="-2222517" y="7494200"/>
            <a:ext cx="5578401" cy="5578401"/>
            <a:chOff x="0" y="0"/>
            <a:chExt cx="812800" cy="812800"/>
          </a:xfrm>
        </p:grpSpPr>
        <p:sp>
          <p:nvSpPr>
            <p:cNvPr id="5" name="Freeform 5">
              <a:extLst>
                <a:ext uri="{FF2B5EF4-FFF2-40B4-BE49-F238E27FC236}">
                  <a16:creationId xmlns:a16="http://schemas.microsoft.com/office/drawing/2014/main" id="{5528931C-46FC-4A38-F528-C313718DC2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txBody>
            <a:bodyPr/>
            <a:lstStyle/>
            <a:p>
              <a:endParaRPr lang="en-US"/>
            </a:p>
          </p:txBody>
        </p:sp>
        <p:sp>
          <p:nvSpPr>
            <p:cNvPr id="6" name="TextBox 6">
              <a:extLst>
                <a:ext uri="{FF2B5EF4-FFF2-40B4-BE49-F238E27FC236}">
                  <a16:creationId xmlns:a16="http://schemas.microsoft.com/office/drawing/2014/main" id="{E4772827-41B7-178E-A099-B18F6DC714AD}"/>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7" name="Group 7">
            <a:extLst>
              <a:ext uri="{FF2B5EF4-FFF2-40B4-BE49-F238E27FC236}">
                <a16:creationId xmlns:a16="http://schemas.microsoft.com/office/drawing/2014/main" id="{84C9BE86-5E7E-71B4-1F66-2198CE283D4D}"/>
              </a:ext>
            </a:extLst>
          </p:cNvPr>
          <p:cNvGrpSpPr/>
          <p:nvPr/>
        </p:nvGrpSpPr>
        <p:grpSpPr>
          <a:xfrm>
            <a:off x="722035" y="9130847"/>
            <a:ext cx="452472" cy="452472"/>
            <a:chOff x="0" y="0"/>
            <a:chExt cx="812800" cy="812800"/>
          </a:xfrm>
        </p:grpSpPr>
        <p:sp>
          <p:nvSpPr>
            <p:cNvPr id="8" name="Freeform 8">
              <a:extLst>
                <a:ext uri="{FF2B5EF4-FFF2-40B4-BE49-F238E27FC236}">
                  <a16:creationId xmlns:a16="http://schemas.microsoft.com/office/drawing/2014/main" id="{B2B4D52A-139D-A3AD-6CFE-50A33AC083E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9" name="TextBox 9">
              <a:extLst>
                <a:ext uri="{FF2B5EF4-FFF2-40B4-BE49-F238E27FC236}">
                  <a16:creationId xmlns:a16="http://schemas.microsoft.com/office/drawing/2014/main" id="{D39359A4-1738-4DF2-4DF1-E54BEFAA0562}"/>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10" name="Group 10">
            <a:extLst>
              <a:ext uri="{FF2B5EF4-FFF2-40B4-BE49-F238E27FC236}">
                <a16:creationId xmlns:a16="http://schemas.microsoft.com/office/drawing/2014/main" id="{C463DEA4-21A3-FE8C-8A82-C47247CC9DAB}"/>
              </a:ext>
            </a:extLst>
          </p:cNvPr>
          <p:cNvGrpSpPr/>
          <p:nvPr/>
        </p:nvGrpSpPr>
        <p:grpSpPr>
          <a:xfrm>
            <a:off x="15017929" y="-2533783"/>
            <a:ext cx="5002094" cy="5002094"/>
            <a:chOff x="0" y="0"/>
            <a:chExt cx="812800" cy="812800"/>
          </a:xfrm>
        </p:grpSpPr>
        <p:sp>
          <p:nvSpPr>
            <p:cNvPr id="11" name="Freeform 11">
              <a:extLst>
                <a:ext uri="{FF2B5EF4-FFF2-40B4-BE49-F238E27FC236}">
                  <a16:creationId xmlns:a16="http://schemas.microsoft.com/office/drawing/2014/main" id="{BB81D10E-BEA6-54AD-5765-F59D3112B4B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txBody>
            <a:bodyPr/>
            <a:lstStyle/>
            <a:p>
              <a:endParaRPr lang="en-US"/>
            </a:p>
          </p:txBody>
        </p:sp>
        <p:sp>
          <p:nvSpPr>
            <p:cNvPr id="12" name="TextBox 12">
              <a:extLst>
                <a:ext uri="{FF2B5EF4-FFF2-40B4-BE49-F238E27FC236}">
                  <a16:creationId xmlns:a16="http://schemas.microsoft.com/office/drawing/2014/main" id="{98A3284D-70DC-F52C-4280-0E142C21C0F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43" name="Group 43">
            <a:extLst>
              <a:ext uri="{FF2B5EF4-FFF2-40B4-BE49-F238E27FC236}">
                <a16:creationId xmlns:a16="http://schemas.microsoft.com/office/drawing/2014/main" id="{5C4EF32B-9813-B346-BEED-07750AE17120}"/>
              </a:ext>
            </a:extLst>
          </p:cNvPr>
          <p:cNvGrpSpPr/>
          <p:nvPr/>
        </p:nvGrpSpPr>
        <p:grpSpPr>
          <a:xfrm>
            <a:off x="4809335" y="8388753"/>
            <a:ext cx="1183417" cy="1183417"/>
            <a:chOff x="0" y="0"/>
            <a:chExt cx="812800" cy="812800"/>
          </a:xfrm>
        </p:grpSpPr>
        <p:sp>
          <p:nvSpPr>
            <p:cNvPr id="44" name="Freeform 44">
              <a:extLst>
                <a:ext uri="{FF2B5EF4-FFF2-40B4-BE49-F238E27FC236}">
                  <a16:creationId xmlns:a16="http://schemas.microsoft.com/office/drawing/2014/main" id="{B8B4FB9F-C00E-B76A-5BC2-E6F6A814E7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txBody>
            <a:bodyPr/>
            <a:lstStyle/>
            <a:p>
              <a:endParaRPr lang="en-US"/>
            </a:p>
          </p:txBody>
        </p:sp>
        <p:sp>
          <p:nvSpPr>
            <p:cNvPr id="45" name="TextBox 45">
              <a:extLst>
                <a:ext uri="{FF2B5EF4-FFF2-40B4-BE49-F238E27FC236}">
                  <a16:creationId xmlns:a16="http://schemas.microsoft.com/office/drawing/2014/main" id="{D4B89356-A959-76BA-A573-D525B6A55B08}"/>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pic>
        <p:nvPicPr>
          <p:cNvPr id="15" name="Picture 14">
            <a:extLst>
              <a:ext uri="{FF2B5EF4-FFF2-40B4-BE49-F238E27FC236}">
                <a16:creationId xmlns:a16="http://schemas.microsoft.com/office/drawing/2014/main" id="{75B49937-21DD-6CA4-B961-63D0D6BA28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4188" y="1556071"/>
            <a:ext cx="9071182" cy="7905154"/>
          </a:xfrm>
          <a:prstGeom prst="rect">
            <a:avLst/>
          </a:prstGeom>
        </p:spPr>
      </p:pic>
      <p:sp>
        <p:nvSpPr>
          <p:cNvPr id="2" name="TextBox 1">
            <a:extLst>
              <a:ext uri="{FF2B5EF4-FFF2-40B4-BE49-F238E27FC236}">
                <a16:creationId xmlns:a16="http://schemas.microsoft.com/office/drawing/2014/main" id="{28503D55-7BEB-9CE0-D7C9-F569D2636751}"/>
              </a:ext>
            </a:extLst>
          </p:cNvPr>
          <p:cNvSpPr txBox="1"/>
          <p:nvPr/>
        </p:nvSpPr>
        <p:spPr>
          <a:xfrm>
            <a:off x="1132088" y="1991257"/>
            <a:ext cx="6065705" cy="954107"/>
          </a:xfrm>
          <a:prstGeom prst="rect">
            <a:avLst/>
          </a:prstGeom>
          <a:noFill/>
          <a:ln w="6350">
            <a:solidFill>
              <a:schemeClr val="tx1"/>
            </a:solidFill>
          </a:ln>
        </p:spPr>
        <p:txBody>
          <a:bodyPr wrap="square" rtlCol="0">
            <a:spAutoFit/>
          </a:bodyPr>
          <a:lstStyle/>
          <a:p>
            <a:r>
              <a:rPr lang="en-US" sz="2800" dirty="0">
                <a:latin typeface="Times New Roman" panose="02020603050405020304" pitchFamily="18" charset="0"/>
                <a:cs typeface="Times New Roman" panose="02020603050405020304" pitchFamily="18" charset="0"/>
              </a:rPr>
              <a:t>Activity diagram for “Process payment” </a:t>
            </a:r>
          </a:p>
          <a:p>
            <a:endParaRPr lang="en-US" sz="2800" dirty="0"/>
          </a:p>
        </p:txBody>
      </p:sp>
    </p:spTree>
    <p:extLst>
      <p:ext uri="{BB962C8B-B14F-4D97-AF65-F5344CB8AC3E}">
        <p14:creationId xmlns:p14="http://schemas.microsoft.com/office/powerpoint/2010/main" val="55827088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0">
            <a:extLst>
              <a:ext uri="{FF2B5EF4-FFF2-40B4-BE49-F238E27FC236}">
                <a16:creationId xmlns:a16="http://schemas.microsoft.com/office/drawing/2014/main" id="{2B06089D-0FA0-068C-3139-8C200D80ED2F}"/>
              </a:ext>
            </a:extLst>
          </p:cNvPr>
          <p:cNvSpPr txBox="1"/>
          <p:nvPr/>
        </p:nvSpPr>
        <p:spPr>
          <a:xfrm>
            <a:off x="4589450" y="911256"/>
            <a:ext cx="8536615" cy="1097280"/>
          </a:xfrm>
          <a:prstGeom prst="rect">
            <a:avLst/>
          </a:prstGeom>
          <a:ln>
            <a:solidFill>
              <a:schemeClr val="accent1"/>
            </a:solidFill>
          </a:ln>
        </p:spPr>
        <p:txBody>
          <a:bodyPr wrap="square" lIns="0" tIns="0" rIns="0" bIns="0" rtlCol="0" anchor="t">
            <a:spAutoFit/>
          </a:bodyPr>
          <a:lstStyle/>
          <a:p>
            <a:pPr algn="ctr"/>
            <a:r>
              <a:rPr lang="en-US" sz="6600" spc="-93" dirty="0">
                <a:solidFill>
                  <a:srgbClr val="000000"/>
                </a:solidFill>
                <a:latin typeface="Times New Roman"/>
                <a:ea typeface="+mn-lt"/>
                <a:cs typeface="+mn-lt"/>
                <a:sym typeface="Open Sauce Bold"/>
              </a:rPr>
              <a:t>Functional Requirements</a:t>
            </a:r>
            <a:endParaRPr lang="en-US" sz="6600" spc="-93" dirty="0">
              <a:solidFill>
                <a:srgbClr val="000000"/>
              </a:solidFill>
              <a:latin typeface="Times New Roman"/>
              <a:ea typeface="+mn-lt"/>
              <a:cs typeface="+mn-lt"/>
            </a:endParaRPr>
          </a:p>
          <a:p>
            <a:pPr marL="0" lvl="0" indent="0" algn="ctr"/>
            <a:endParaRPr lang="en-US" sz="9500" spc="-93" dirty="0">
              <a:solidFill>
                <a:srgbClr val="FFFFFF"/>
              </a:solidFill>
              <a:latin typeface="Times New Roman"/>
              <a:ea typeface="Calibri"/>
              <a:cs typeface="Calibri"/>
            </a:endParaRPr>
          </a:p>
        </p:txBody>
      </p:sp>
      <p:sp>
        <p:nvSpPr>
          <p:cNvPr id="3" name="TextBox 2">
            <a:extLst>
              <a:ext uri="{FF2B5EF4-FFF2-40B4-BE49-F238E27FC236}">
                <a16:creationId xmlns:a16="http://schemas.microsoft.com/office/drawing/2014/main" id="{1B1F9740-EE5F-70E1-9278-63561CF3D131}"/>
              </a:ext>
            </a:extLst>
          </p:cNvPr>
          <p:cNvSpPr txBox="1"/>
          <p:nvPr/>
        </p:nvSpPr>
        <p:spPr>
          <a:xfrm>
            <a:off x="2663785" y="2547958"/>
            <a:ext cx="12387943" cy="5831853"/>
          </a:xfrm>
          <a:prstGeom prst="rect">
            <a:avLst/>
          </a:prstGeom>
          <a:noFill/>
          <a:ln>
            <a:solidFill>
              <a:schemeClr val="accent1"/>
            </a:solidFill>
          </a:ln>
        </p:spPr>
        <p:txBody>
          <a:bodyPr wrap="square" rtlCol="0">
            <a:spAutoFit/>
          </a:bodyPr>
          <a:lstStyle/>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FR-1: User Registration &amp; Authentication</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FR-2: Learning Content Access</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FR-3: Practice &amp; Feedback</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FR-4: Progress Tracking &amp; Reporting</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FR-5: Content Management (Teacher)</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FR-6: Content Moderation</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FR-7: Administration</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FR-8: Job Application Management</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FR-9: Language &amp; Accessibility</a:t>
            </a:r>
          </a:p>
        </p:txBody>
      </p:sp>
      <p:sp>
        <p:nvSpPr>
          <p:cNvPr id="4" name="Freeform 2">
            <a:extLst>
              <a:ext uri="{FF2B5EF4-FFF2-40B4-BE49-F238E27FC236}">
                <a16:creationId xmlns:a16="http://schemas.microsoft.com/office/drawing/2014/main" id="{458132A7-1E5D-5F48-5C6D-8518432BEB7D}"/>
              </a:ext>
            </a:extLst>
          </p:cNvPr>
          <p:cNvSpPr/>
          <p:nvPr/>
        </p:nvSpPr>
        <p:spPr>
          <a:xfrm>
            <a:off x="15318765" y="3808294"/>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2">
            <a:extLst>
              <a:ext uri="{FF2B5EF4-FFF2-40B4-BE49-F238E27FC236}">
                <a16:creationId xmlns:a16="http://schemas.microsoft.com/office/drawing/2014/main" id="{D4F50A34-70C0-98D3-23A4-E8BA32A5DB87}"/>
              </a:ext>
            </a:extLst>
          </p:cNvPr>
          <p:cNvSpPr/>
          <p:nvPr/>
        </p:nvSpPr>
        <p:spPr>
          <a:xfrm flipH="1">
            <a:off x="-894033" y="-757762"/>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C343D-2CF9-9D18-3C62-535E75FA0F80}"/>
            </a:ext>
          </a:extLst>
        </p:cNvPr>
        <p:cNvGrpSpPr/>
        <p:nvPr/>
      </p:nvGrpSpPr>
      <p:grpSpPr>
        <a:xfrm>
          <a:off x="0" y="0"/>
          <a:ext cx="0" cy="0"/>
          <a:chOff x="0" y="0"/>
          <a:chExt cx="0" cy="0"/>
        </a:xfrm>
      </p:grpSpPr>
      <p:sp>
        <p:nvSpPr>
          <p:cNvPr id="2" name="TextBox 10">
            <a:extLst>
              <a:ext uri="{FF2B5EF4-FFF2-40B4-BE49-F238E27FC236}">
                <a16:creationId xmlns:a16="http://schemas.microsoft.com/office/drawing/2014/main" id="{C1C279EB-22EF-4983-3C8D-07D115D48134}"/>
              </a:ext>
            </a:extLst>
          </p:cNvPr>
          <p:cNvSpPr txBox="1"/>
          <p:nvPr/>
        </p:nvSpPr>
        <p:spPr>
          <a:xfrm>
            <a:off x="4101402" y="867011"/>
            <a:ext cx="10085195" cy="1188720"/>
          </a:xfrm>
          <a:prstGeom prst="rect">
            <a:avLst/>
          </a:prstGeom>
          <a:ln>
            <a:solidFill>
              <a:schemeClr val="accent1"/>
            </a:solidFill>
          </a:ln>
        </p:spPr>
        <p:txBody>
          <a:bodyPr wrap="square" lIns="0" tIns="0" rIns="0" bIns="0" rtlCol="0" anchor="t">
            <a:spAutoFit/>
          </a:bodyPr>
          <a:lstStyle/>
          <a:p>
            <a:pPr algn="ctr"/>
            <a:r>
              <a:rPr lang="en-US" sz="6600" spc="-93" dirty="0">
                <a:solidFill>
                  <a:srgbClr val="000000"/>
                </a:solidFill>
                <a:latin typeface="Times New Roman"/>
                <a:ea typeface="+mn-lt"/>
                <a:cs typeface="+mn-lt"/>
                <a:sym typeface="Open Sauce Bold"/>
              </a:rPr>
              <a:t>Non-Functional Requirements</a:t>
            </a:r>
            <a:endParaRPr lang="en-US" sz="6600" spc="-93" dirty="0">
              <a:solidFill>
                <a:srgbClr val="000000"/>
              </a:solidFill>
              <a:latin typeface="Times New Roman"/>
              <a:ea typeface="+mn-lt"/>
              <a:cs typeface="+mn-lt"/>
            </a:endParaRPr>
          </a:p>
          <a:p>
            <a:pPr marL="0" lvl="0" indent="0" algn="ctr"/>
            <a:endParaRPr lang="en-US" sz="9500" spc="-93" dirty="0">
              <a:solidFill>
                <a:srgbClr val="FFFFFF"/>
              </a:solidFill>
              <a:latin typeface="Times New Roman"/>
              <a:ea typeface="Calibri"/>
              <a:cs typeface="Calibri"/>
            </a:endParaRPr>
          </a:p>
        </p:txBody>
      </p:sp>
      <p:sp>
        <p:nvSpPr>
          <p:cNvPr id="3" name="TextBox 2">
            <a:extLst>
              <a:ext uri="{FF2B5EF4-FFF2-40B4-BE49-F238E27FC236}">
                <a16:creationId xmlns:a16="http://schemas.microsoft.com/office/drawing/2014/main" id="{669E0DDE-1290-26B8-E407-1A62E56B7ED0}"/>
              </a:ext>
            </a:extLst>
          </p:cNvPr>
          <p:cNvSpPr txBox="1"/>
          <p:nvPr/>
        </p:nvSpPr>
        <p:spPr>
          <a:xfrm>
            <a:off x="3621186" y="2651197"/>
            <a:ext cx="10800033" cy="5357176"/>
          </a:xfrm>
          <a:prstGeom prst="rect">
            <a:avLst/>
          </a:prstGeom>
          <a:noFill/>
          <a:ln>
            <a:solidFill>
              <a:schemeClr val="accent1"/>
            </a:solidFill>
          </a:ln>
        </p:spPr>
        <p:txBody>
          <a:bodyPr wrap="square" rtlCol="0">
            <a:spAutoFit/>
          </a:bodyPr>
          <a:lstStyle/>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NFR-1: Performance</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NFR-2: Usability</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NFR-3: Reliability &amp; Availability</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NFR-4: Security</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NFR-5: Scalability</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NFR-6: Maintainability</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NFR-7: Compatibility</a:t>
            </a:r>
          </a:p>
          <a:p>
            <a:pPr marL="457200" indent="-457200">
              <a:lnSpc>
                <a:spcPct val="150000"/>
              </a:lnSpc>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NFR-8: Legal &amp; Ethical Compliance</a:t>
            </a:r>
          </a:p>
        </p:txBody>
      </p:sp>
      <p:sp>
        <p:nvSpPr>
          <p:cNvPr id="4" name="Freeform 2">
            <a:extLst>
              <a:ext uri="{FF2B5EF4-FFF2-40B4-BE49-F238E27FC236}">
                <a16:creationId xmlns:a16="http://schemas.microsoft.com/office/drawing/2014/main" id="{4466D226-B7E8-6D6C-F4E9-61859222D7E7}"/>
              </a:ext>
            </a:extLst>
          </p:cNvPr>
          <p:cNvSpPr/>
          <p:nvPr/>
        </p:nvSpPr>
        <p:spPr>
          <a:xfrm>
            <a:off x="14994300" y="3675559"/>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Freeform 2">
            <a:extLst>
              <a:ext uri="{FF2B5EF4-FFF2-40B4-BE49-F238E27FC236}">
                <a16:creationId xmlns:a16="http://schemas.microsoft.com/office/drawing/2014/main" id="{4A7CEDE6-49B4-4032-1D9B-83FCAE3179EA}"/>
              </a:ext>
            </a:extLst>
          </p:cNvPr>
          <p:cNvSpPr/>
          <p:nvPr/>
        </p:nvSpPr>
        <p:spPr>
          <a:xfrm flipH="1">
            <a:off x="-811055" y="-654523"/>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Tree>
    <p:extLst>
      <p:ext uri="{BB962C8B-B14F-4D97-AF65-F5344CB8AC3E}">
        <p14:creationId xmlns:p14="http://schemas.microsoft.com/office/powerpoint/2010/main" val="5165913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438FB-462C-BCDE-5D73-BC99C6E4444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C38BE4F-A7F5-675C-CDEB-246A34B2347B}"/>
              </a:ext>
            </a:extLst>
          </p:cNvPr>
          <p:cNvSpPr/>
          <p:nvPr/>
        </p:nvSpPr>
        <p:spPr>
          <a:xfrm>
            <a:off x="14994300" y="3675559"/>
            <a:ext cx="3293700" cy="6611441"/>
          </a:xfrm>
          <a:custGeom>
            <a:avLst/>
            <a:gdLst/>
            <a:ahLst/>
            <a:cxnLst/>
            <a:rect l="l" t="t" r="r" b="b"/>
            <a:pathLst>
              <a:path w="3293700" h="6611441">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9" name="Freeform 9">
            <a:extLst>
              <a:ext uri="{FF2B5EF4-FFF2-40B4-BE49-F238E27FC236}">
                <a16:creationId xmlns:a16="http://schemas.microsoft.com/office/drawing/2014/main" id="{B3D0919E-CE93-CA5F-6FAB-F31CE4790BA4}"/>
              </a:ext>
            </a:extLst>
          </p:cNvPr>
          <p:cNvSpPr/>
          <p:nvPr/>
        </p:nvSpPr>
        <p:spPr>
          <a:xfrm>
            <a:off x="-1801378" y="-610072"/>
            <a:ext cx="3299321" cy="4114800"/>
          </a:xfrm>
          <a:custGeom>
            <a:avLst/>
            <a:gdLst/>
            <a:ahLst/>
            <a:cxnLst/>
            <a:rect l="l" t="t" r="r" b="b"/>
            <a:pathLst>
              <a:path w="3299321" h="4114800">
                <a:moveTo>
                  <a:pt x="0" y="0"/>
                </a:moveTo>
                <a:lnTo>
                  <a:pt x="3299321" y="0"/>
                </a:lnTo>
                <a:lnTo>
                  <a:pt x="329932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10" name="TextBox 10">
            <a:extLst>
              <a:ext uri="{FF2B5EF4-FFF2-40B4-BE49-F238E27FC236}">
                <a16:creationId xmlns:a16="http://schemas.microsoft.com/office/drawing/2014/main" id="{1F5DBA41-F69F-66A0-F0D0-5E25996CD216}"/>
              </a:ext>
            </a:extLst>
          </p:cNvPr>
          <p:cNvSpPr txBox="1"/>
          <p:nvPr/>
        </p:nvSpPr>
        <p:spPr>
          <a:xfrm>
            <a:off x="5214500" y="463888"/>
            <a:ext cx="6285737" cy="2693045"/>
          </a:xfrm>
          <a:prstGeom prst="rect">
            <a:avLst/>
          </a:prstGeom>
        </p:spPr>
        <p:txBody>
          <a:bodyPr lIns="0" tIns="0" rIns="0" bIns="0" rtlCol="0" anchor="t">
            <a:spAutoFit/>
          </a:bodyPr>
          <a:lstStyle/>
          <a:p>
            <a:pPr algn="ctr"/>
            <a:r>
              <a:rPr lang="en-US" sz="8000" spc="-93" dirty="0">
                <a:solidFill>
                  <a:srgbClr val="000000"/>
                </a:solidFill>
                <a:latin typeface="Times New Roman"/>
                <a:ea typeface="+mn-lt"/>
                <a:cs typeface="+mn-lt"/>
                <a:sym typeface="Open Sauce Bold"/>
              </a:rPr>
              <a:t>Conclusion</a:t>
            </a:r>
            <a:endParaRPr lang="en-US" sz="8000" spc="-93" dirty="0">
              <a:solidFill>
                <a:srgbClr val="000000"/>
              </a:solidFill>
              <a:latin typeface="Times New Roman"/>
              <a:ea typeface="+mn-lt"/>
              <a:cs typeface="+mn-lt"/>
            </a:endParaRPr>
          </a:p>
          <a:p>
            <a:pPr marL="0" lvl="0" indent="0" algn="ctr"/>
            <a:endParaRPr lang="en-US" sz="9500" spc="-93" dirty="0">
              <a:solidFill>
                <a:srgbClr val="FFFFFF"/>
              </a:solidFill>
              <a:latin typeface="Times New Roman"/>
              <a:ea typeface="Calibri"/>
              <a:cs typeface="Calibri"/>
            </a:endParaRPr>
          </a:p>
        </p:txBody>
      </p:sp>
      <p:sp>
        <p:nvSpPr>
          <p:cNvPr id="11" name="TextBox 11">
            <a:extLst>
              <a:ext uri="{FF2B5EF4-FFF2-40B4-BE49-F238E27FC236}">
                <a16:creationId xmlns:a16="http://schemas.microsoft.com/office/drawing/2014/main" id="{DFA1B6A8-BAE6-BEB2-C34B-79D45542ADB7}"/>
              </a:ext>
            </a:extLst>
          </p:cNvPr>
          <p:cNvSpPr txBox="1"/>
          <p:nvPr/>
        </p:nvSpPr>
        <p:spPr>
          <a:xfrm>
            <a:off x="1692269" y="1980445"/>
            <a:ext cx="13764039" cy="6924973"/>
          </a:xfrm>
          <a:prstGeom prst="rect">
            <a:avLst/>
          </a:prstGeom>
        </p:spPr>
        <p:txBody>
          <a:bodyPr wrap="square" lIns="0" tIns="0" rIns="0" bIns="0" rtlCol="0" anchor="t">
            <a:spAutoFit/>
          </a:bodyPr>
          <a:lstStyle/>
          <a:p>
            <a:pPr marL="457200" lvl="0" indent="-457200" algn="just">
              <a:buFont typeface="Wingdings" panose="05000000000000000000" pitchFamily="2" charset="2"/>
              <a:buChar char="q"/>
            </a:pPr>
            <a:r>
              <a:rPr lang="en-US" sz="3000" b="1" dirty="0" err="1">
                <a:solidFill>
                  <a:srgbClr val="343432"/>
                </a:solidFill>
                <a:latin typeface="Times New Roman"/>
                <a:ea typeface="Open Sauce"/>
                <a:cs typeface="Open Sauce"/>
              </a:rPr>
              <a:t>Calcure</a:t>
            </a:r>
            <a:r>
              <a:rPr lang="en-US" sz="3000" dirty="0">
                <a:solidFill>
                  <a:srgbClr val="343432"/>
                </a:solidFill>
                <a:latin typeface="Times New Roman"/>
                <a:ea typeface="Open Sauce"/>
                <a:cs typeface="Open Sauce"/>
              </a:rPr>
              <a:t> is designed to be an effective and student-centered mathematics learning application for students from class 1 to 12. Through stakeholder discussions with primary and high school teachers, the project identified key challenges in mathematics education, including lack of engagement, difficulty in understanding concepts, and limited access to guided practice.</a:t>
            </a:r>
          </a:p>
          <a:p>
            <a:pPr marL="457200" lvl="0" indent="-457200" algn="just">
              <a:buFont typeface="Wingdings" panose="05000000000000000000" pitchFamily="2" charset="2"/>
              <a:buChar char="q"/>
            </a:pPr>
            <a:r>
              <a:rPr lang="en-US" sz="3000" dirty="0">
                <a:solidFill>
                  <a:srgbClr val="343432"/>
                </a:solidFill>
                <a:latin typeface="Times New Roman"/>
                <a:ea typeface="Open Sauce"/>
                <a:cs typeface="Open Sauce"/>
              </a:rPr>
              <a:t>The proposed features—such as gamified learning for younger students, step-by-step solutions for advanced topics, bilingual (Bangla and English) support, and progress tracking—aim to address these challenges in a practical and inclusive way. Emphasis on user-friendly design and offline accessibility ensures that </a:t>
            </a:r>
            <a:r>
              <a:rPr lang="en-US" sz="3000" b="1" dirty="0" err="1">
                <a:solidFill>
                  <a:srgbClr val="343432"/>
                </a:solidFill>
                <a:latin typeface="Times New Roman"/>
                <a:ea typeface="Open Sauce"/>
                <a:cs typeface="Open Sauce"/>
              </a:rPr>
              <a:t>Calcure</a:t>
            </a:r>
            <a:r>
              <a:rPr lang="en-US" sz="3000" dirty="0">
                <a:solidFill>
                  <a:srgbClr val="343432"/>
                </a:solidFill>
                <a:latin typeface="Times New Roman"/>
                <a:ea typeface="Open Sauce"/>
                <a:cs typeface="Open Sauce"/>
              </a:rPr>
              <a:t> can benefit students from diverse backgrounds.</a:t>
            </a:r>
          </a:p>
          <a:p>
            <a:pPr marL="457200" lvl="0" indent="-457200" algn="just">
              <a:buFont typeface="Wingdings" panose="05000000000000000000" pitchFamily="2" charset="2"/>
              <a:buChar char="q"/>
            </a:pPr>
            <a:r>
              <a:rPr lang="en-US" sz="3000" dirty="0">
                <a:solidFill>
                  <a:srgbClr val="343432"/>
                </a:solidFill>
                <a:latin typeface="Times New Roman"/>
                <a:ea typeface="Open Sauce"/>
                <a:cs typeface="Open Sauce"/>
              </a:rPr>
              <a:t>By incorporating real feedback from educators and focusing on both engagement and conceptual clarity, </a:t>
            </a:r>
            <a:r>
              <a:rPr lang="en-US" sz="3000" b="1" dirty="0" err="1">
                <a:solidFill>
                  <a:srgbClr val="343432"/>
                </a:solidFill>
                <a:latin typeface="Times New Roman"/>
                <a:ea typeface="Open Sauce"/>
                <a:cs typeface="Open Sauce"/>
              </a:rPr>
              <a:t>Calcure</a:t>
            </a:r>
            <a:r>
              <a:rPr lang="en-US" sz="3000" dirty="0">
                <a:solidFill>
                  <a:srgbClr val="343432"/>
                </a:solidFill>
                <a:latin typeface="Times New Roman"/>
                <a:ea typeface="Open Sauce"/>
                <a:cs typeface="Open Sauce"/>
              </a:rPr>
              <a:t> has strong potential to enhance mathematical understanding and learning outcomes. The project will move forward with prototype development and continued stakeholder collaboration to ensure the app is educationally effective and widely accessible.</a:t>
            </a:r>
          </a:p>
        </p:txBody>
      </p:sp>
    </p:spTree>
    <p:extLst>
      <p:ext uri="{BB962C8B-B14F-4D97-AF65-F5344CB8AC3E}">
        <p14:creationId xmlns:p14="http://schemas.microsoft.com/office/powerpoint/2010/main" val="9932076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499871" y="2680192"/>
            <a:ext cx="8892659" cy="4924128"/>
            <a:chOff x="0" y="0"/>
            <a:chExt cx="2785608" cy="1542473"/>
          </a:xfrm>
        </p:grpSpPr>
        <p:sp>
          <p:nvSpPr>
            <p:cNvPr id="3" name="Freeform 3"/>
            <p:cNvSpPr/>
            <p:nvPr/>
          </p:nvSpPr>
          <p:spPr>
            <a:xfrm>
              <a:off x="0" y="0"/>
              <a:ext cx="2785608" cy="1542473"/>
            </a:xfrm>
            <a:custGeom>
              <a:avLst/>
              <a:gdLst/>
              <a:ahLst/>
              <a:cxnLst/>
              <a:rect l="l" t="t" r="r" b="b"/>
              <a:pathLst>
                <a:path w="2785608" h="1542473">
                  <a:moveTo>
                    <a:pt x="39177" y="0"/>
                  </a:moveTo>
                  <a:lnTo>
                    <a:pt x="2746431" y="0"/>
                  </a:lnTo>
                  <a:cubicBezTo>
                    <a:pt x="2768068" y="0"/>
                    <a:pt x="2785608" y="17540"/>
                    <a:pt x="2785608" y="39177"/>
                  </a:cubicBezTo>
                  <a:lnTo>
                    <a:pt x="2785608" y="1503296"/>
                  </a:lnTo>
                  <a:cubicBezTo>
                    <a:pt x="2785608" y="1524933"/>
                    <a:pt x="2768068" y="1542473"/>
                    <a:pt x="2746431" y="1542473"/>
                  </a:cubicBezTo>
                  <a:lnTo>
                    <a:pt x="39177" y="1542473"/>
                  </a:lnTo>
                  <a:cubicBezTo>
                    <a:pt x="17540" y="1542473"/>
                    <a:pt x="0" y="1524933"/>
                    <a:pt x="0" y="1503296"/>
                  </a:cubicBezTo>
                  <a:lnTo>
                    <a:pt x="0" y="39177"/>
                  </a:lnTo>
                  <a:cubicBezTo>
                    <a:pt x="0" y="17540"/>
                    <a:pt x="17540" y="0"/>
                    <a:pt x="39177" y="0"/>
                  </a:cubicBezTo>
                  <a:close/>
                </a:path>
              </a:pathLst>
            </a:custGeom>
            <a:solidFill>
              <a:srgbClr val="106861"/>
            </a:solidFill>
            <a:ln cap="rnd">
              <a:noFill/>
              <a:prstDash val="solid"/>
              <a:round/>
            </a:ln>
          </p:spPr>
          <p:txBody>
            <a:bodyPr/>
            <a:lstStyle/>
            <a:p>
              <a:endParaRPr lang="en-US"/>
            </a:p>
          </p:txBody>
        </p:sp>
        <p:sp>
          <p:nvSpPr>
            <p:cNvPr id="4" name="TextBox 4"/>
            <p:cNvSpPr txBox="1"/>
            <p:nvPr/>
          </p:nvSpPr>
          <p:spPr>
            <a:xfrm>
              <a:off x="0" y="-38100"/>
              <a:ext cx="2785608" cy="1580573"/>
            </a:xfrm>
            <a:prstGeom prst="rect">
              <a:avLst/>
            </a:prstGeom>
          </p:spPr>
          <p:txBody>
            <a:bodyPr lIns="50800" tIns="50800" rIns="50800" bIns="50800" rtlCol="0" anchor="ctr"/>
            <a:lstStyle/>
            <a:p>
              <a:pPr marL="0" lvl="0" indent="0" algn="ctr">
                <a:lnSpc>
                  <a:spcPts val="3035"/>
                </a:lnSpc>
                <a:spcBef>
                  <a:spcPct val="0"/>
                </a:spcBef>
              </a:pPr>
              <a:endParaRPr/>
            </a:p>
          </p:txBody>
        </p:sp>
      </p:grpSp>
      <p:grpSp>
        <p:nvGrpSpPr>
          <p:cNvPr id="13" name="Group 13"/>
          <p:cNvGrpSpPr/>
          <p:nvPr/>
        </p:nvGrpSpPr>
        <p:grpSpPr>
          <a:xfrm>
            <a:off x="7948851" y="5887486"/>
            <a:ext cx="42696" cy="1486418"/>
            <a:chOff x="0" y="0"/>
            <a:chExt cx="13374" cy="777626"/>
          </a:xfrm>
        </p:grpSpPr>
        <p:sp>
          <p:nvSpPr>
            <p:cNvPr id="14" name="Freeform 14"/>
            <p:cNvSpPr/>
            <p:nvPr/>
          </p:nvSpPr>
          <p:spPr>
            <a:xfrm>
              <a:off x="0" y="0"/>
              <a:ext cx="13374" cy="777626"/>
            </a:xfrm>
            <a:custGeom>
              <a:avLst/>
              <a:gdLst/>
              <a:ahLst/>
              <a:cxnLst/>
              <a:rect l="l" t="t" r="r" b="b"/>
              <a:pathLst>
                <a:path w="13374" h="777626">
                  <a:moveTo>
                    <a:pt x="0" y="0"/>
                  </a:moveTo>
                  <a:lnTo>
                    <a:pt x="13374" y="0"/>
                  </a:lnTo>
                  <a:lnTo>
                    <a:pt x="13374" y="777626"/>
                  </a:lnTo>
                  <a:lnTo>
                    <a:pt x="0" y="777626"/>
                  </a:lnTo>
                  <a:close/>
                </a:path>
              </a:pathLst>
            </a:custGeom>
            <a:solidFill>
              <a:srgbClr val="FFFFFF"/>
            </a:solidFill>
          </p:spPr>
          <p:txBody>
            <a:bodyPr/>
            <a:lstStyle/>
            <a:p>
              <a:endParaRPr lang="en-US"/>
            </a:p>
          </p:txBody>
        </p:sp>
        <p:sp>
          <p:nvSpPr>
            <p:cNvPr id="15" name="TextBox 15"/>
            <p:cNvSpPr txBox="1"/>
            <p:nvPr/>
          </p:nvSpPr>
          <p:spPr>
            <a:xfrm>
              <a:off x="0" y="-38100"/>
              <a:ext cx="13374" cy="815726"/>
            </a:xfrm>
            <a:prstGeom prst="rect">
              <a:avLst/>
            </a:prstGeom>
          </p:spPr>
          <p:txBody>
            <a:bodyPr lIns="50800" tIns="50800" rIns="50800" bIns="50800" rtlCol="0" anchor="ctr"/>
            <a:lstStyle/>
            <a:p>
              <a:pPr algn="ctr">
                <a:lnSpc>
                  <a:spcPts val="3035"/>
                </a:lnSpc>
              </a:pPr>
              <a:endParaRPr/>
            </a:p>
          </p:txBody>
        </p:sp>
      </p:grpSp>
      <p:sp>
        <p:nvSpPr>
          <p:cNvPr id="22" name="TextBox 22"/>
          <p:cNvSpPr txBox="1"/>
          <p:nvPr/>
        </p:nvSpPr>
        <p:spPr>
          <a:xfrm>
            <a:off x="6001866" y="4287491"/>
            <a:ext cx="4690387" cy="849079"/>
          </a:xfrm>
          <a:prstGeom prst="rect">
            <a:avLst/>
          </a:prstGeom>
        </p:spPr>
        <p:txBody>
          <a:bodyPr lIns="0" tIns="0" rIns="0" bIns="0" rtlCol="0" anchor="t">
            <a:spAutoFit/>
          </a:bodyPr>
          <a:lstStyle/>
          <a:p>
            <a:pPr>
              <a:lnSpc>
                <a:spcPts val="7116"/>
              </a:lnSpc>
              <a:spcBef>
                <a:spcPct val="0"/>
              </a:spcBef>
            </a:pPr>
            <a:r>
              <a:rPr lang="en-US" sz="5050" b="1" spc="477" dirty="0">
                <a:solidFill>
                  <a:srgbClr val="FFFFFF"/>
                </a:solidFill>
                <a:latin typeface="Open Sauce Bold"/>
                <a:ea typeface="+mn-lt"/>
                <a:cs typeface="+mn-lt"/>
                <a:sym typeface="Open Sauce Bold"/>
              </a:rPr>
              <a:t>THANK YOU</a:t>
            </a:r>
            <a:endParaRPr lang="en-US" dirty="0"/>
          </a:p>
        </p:txBody>
      </p:sp>
      <p:grpSp>
        <p:nvGrpSpPr>
          <p:cNvPr id="24" name="Group 24"/>
          <p:cNvGrpSpPr/>
          <p:nvPr/>
        </p:nvGrpSpPr>
        <p:grpSpPr>
          <a:xfrm>
            <a:off x="15811589" y="8007246"/>
            <a:ext cx="4201427" cy="4201427"/>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txBody>
            <a:bodyPr/>
            <a:lstStyle/>
            <a:p>
              <a:endParaRPr lang="en-US"/>
            </a:p>
          </p:txBody>
        </p:sp>
        <p:sp>
          <p:nvSpPr>
            <p:cNvPr id="26" name="TextBox 26"/>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27" name="Group 27"/>
          <p:cNvGrpSpPr/>
          <p:nvPr/>
        </p:nvGrpSpPr>
        <p:grpSpPr>
          <a:xfrm>
            <a:off x="-1868494" y="-2100713"/>
            <a:ext cx="4201427" cy="4201427"/>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txBody>
            <a:bodyPr/>
            <a:lstStyle/>
            <a:p>
              <a:endParaRPr lang="en-US"/>
            </a:p>
          </p:txBody>
        </p:sp>
        <p:sp>
          <p:nvSpPr>
            <p:cNvPr id="29" name="TextBox 29"/>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30" name="Group 30"/>
          <p:cNvGrpSpPr/>
          <p:nvPr/>
        </p:nvGrpSpPr>
        <p:grpSpPr>
          <a:xfrm>
            <a:off x="16067950" y="6633635"/>
            <a:ext cx="762083" cy="762083"/>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txBody>
            <a:bodyPr/>
            <a:lstStyle/>
            <a:p>
              <a:endParaRPr lang="en-US"/>
            </a:p>
          </p:txBody>
        </p:sp>
        <p:sp>
          <p:nvSpPr>
            <p:cNvPr id="32" name="TextBox 32"/>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grpSp>
        <p:nvGrpSpPr>
          <p:cNvPr id="33" name="Group 33"/>
          <p:cNvGrpSpPr/>
          <p:nvPr/>
        </p:nvGrpSpPr>
        <p:grpSpPr>
          <a:xfrm>
            <a:off x="-575233" y="9258300"/>
            <a:ext cx="1614906" cy="1614906"/>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txBody>
            <a:bodyPr/>
            <a:lstStyle/>
            <a:p>
              <a:endParaRPr lang="en-US"/>
            </a:p>
          </p:txBody>
        </p:sp>
        <p:sp>
          <p:nvSpPr>
            <p:cNvPr id="35" name="TextBox 35"/>
            <p:cNvSpPr txBox="1"/>
            <p:nvPr/>
          </p:nvSpPr>
          <p:spPr>
            <a:xfrm>
              <a:off x="76200" y="38100"/>
              <a:ext cx="660400" cy="698500"/>
            </a:xfrm>
            <a:prstGeom prst="rect">
              <a:avLst/>
            </a:prstGeom>
          </p:spPr>
          <p:txBody>
            <a:bodyPr lIns="50800" tIns="50800" rIns="50800" bIns="50800" rtlCol="0" anchor="ctr"/>
            <a:lstStyle/>
            <a:p>
              <a:pPr marL="0" lvl="0" indent="0" algn="ctr">
                <a:lnSpc>
                  <a:spcPts val="2756"/>
                </a:lnSpc>
                <a:spcBef>
                  <a:spcPct val="0"/>
                </a:spcBef>
              </a:pPr>
              <a:endParaRP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1475</Words>
  <Application>Microsoft Office PowerPoint</Application>
  <PresentationFormat>Custom</PresentationFormat>
  <Paragraphs>226</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Open Sauce Bold</vt:lpstr>
      <vt:lpstr>Calibri</vt:lpstr>
      <vt:lpstr>Arial</vt:lpstr>
      <vt:lpstr>Book Antiqua</vt:lpstr>
      <vt:lpstr>Wingdings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Sahid</dc:creator>
  <cp:lastModifiedBy>Ishrat Barsha</cp:lastModifiedBy>
  <cp:revision>637</cp:revision>
  <dcterms:created xsi:type="dcterms:W3CDTF">2006-08-16T00:00:00Z</dcterms:created>
  <dcterms:modified xsi:type="dcterms:W3CDTF">2026-01-25T14:05:44Z</dcterms:modified>
  <dc:identifier>DAGwZoKPm1I</dc:identifier>
</cp:coreProperties>
</file>